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234440"/>
            <a:ext cx="10874959" cy="274320"/>
          </a:xfrm>
          <a:prstGeom prst="rect">
            <a:avLst/>
          </a:prstGeom>
          <a:noFill/>
        </p:spPr>
        <p:txBody>
          <a:bodyPr wrap="square" lIns="0" rIns="0" tIns="0" bIns="0" anchor="t">
            <a:spAutoFit/>
          </a:bodyPr>
          <a:lstStyle/>
          <a:p>
            <a:pPr algn="l">
              <a:spcAft>
                <a:spcPts val="0"/>
              </a:spcAft>
            </a:pPr>
            <a:r>
              <a:rPr sz="1100" b="1" i="0">
                <a:solidFill>
                  <a:srgbClr val="2A78D6"/>
                </a:solidFill>
                <a:latin typeface="Segoe UI"/>
              </a:rPr>
              <a:t>E-RAKSHAK HACKATHON 2026   ·   PROBLEM STATEMENT PS-08</a:t>
            </a:r>
          </a:p>
        </p:txBody>
      </p:sp>
      <p:sp>
        <p:nvSpPr>
          <p:cNvPr id="4" name="TextBox 3"/>
          <p:cNvSpPr txBox="1"/>
          <p:nvPr/>
        </p:nvSpPr>
        <p:spPr>
          <a:xfrm>
            <a:off x="658368" y="1691640"/>
            <a:ext cx="10874959" cy="914400"/>
          </a:xfrm>
          <a:prstGeom prst="rect">
            <a:avLst/>
          </a:prstGeom>
          <a:noFill/>
        </p:spPr>
        <p:txBody>
          <a:bodyPr wrap="square" lIns="0" rIns="0" tIns="0" bIns="0" anchor="t">
            <a:spAutoFit/>
          </a:bodyPr>
          <a:lstStyle/>
          <a:p>
            <a:pPr algn="l">
              <a:spcAft>
                <a:spcPts val="0"/>
              </a:spcAft>
            </a:pPr>
            <a:r>
              <a:rPr sz="5200" b="1" i="0">
                <a:solidFill>
                  <a:srgbClr val="0B0B0B"/>
                </a:solidFill>
                <a:latin typeface="Segoe UI"/>
              </a:rPr>
              <a:t>Surat Traffic Intelligence</a:t>
            </a:r>
          </a:p>
        </p:txBody>
      </p:sp>
      <p:sp>
        <p:nvSpPr>
          <p:cNvPr id="5" name="TextBox 4"/>
          <p:cNvSpPr txBox="1"/>
          <p:nvPr/>
        </p:nvSpPr>
        <p:spPr>
          <a:xfrm>
            <a:off x="658368" y="2670048"/>
            <a:ext cx="8595360" cy="457200"/>
          </a:xfrm>
          <a:prstGeom prst="rect">
            <a:avLst/>
          </a:prstGeom>
          <a:noFill/>
        </p:spPr>
        <p:txBody>
          <a:bodyPr wrap="square" lIns="0" rIns="0" tIns="0" bIns="0" anchor="t">
            <a:spAutoFit/>
          </a:bodyPr>
          <a:lstStyle/>
          <a:p>
            <a:pPr algn="l">
              <a:spcAft>
                <a:spcPts val="0"/>
              </a:spcAft>
            </a:pPr>
            <a:r>
              <a:rPr sz="1700" b="0" i="0">
                <a:solidFill>
                  <a:srgbClr val="52514E"/>
                </a:solidFill>
                <a:latin typeface="Segoe UI"/>
              </a:rPr>
              <a:t>Data-Driven Traffic Optimization &amp; Adaptive Infrastructure Intelligence</a:t>
            </a:r>
          </a:p>
        </p:txBody>
      </p:sp>
      <p:sp>
        <p:nvSpPr>
          <p:cNvPr id="6" name="Rectangle 5"/>
          <p:cNvSpPr/>
          <p:nvPr/>
        </p:nvSpPr>
        <p:spPr>
          <a:xfrm>
            <a:off x="658368" y="3310128"/>
            <a:ext cx="1371600" cy="3175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584448"/>
            <a:ext cx="9326880" cy="8229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Real-time lane density from CCTV  ·  adaptive signal optimisation  ·  bottleneck detection
</a:t>
            </a:r>
            <a:r>
              <a:rPr sz="1350" b="1" i="0">
                <a:solidFill>
                  <a:srgbClr val="0B0B0B"/>
                </a:solidFill>
                <a:latin typeface="Segoe UI"/>
              </a:rPr>
              <a:t>— with two signal controllers, each validated on data that can actually support it.</a:t>
            </a:r>
          </a:p>
        </p:txBody>
      </p:sp>
      <p:sp>
        <p:nvSpPr>
          <p:cNvPr id="8" name="Rounded Rectangle 7"/>
          <p:cNvSpPr/>
          <p:nvPr/>
        </p:nvSpPr>
        <p:spPr>
          <a:xfrm>
            <a:off x="658368" y="4709160"/>
            <a:ext cx="1298448" cy="65836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809744"/>
            <a:ext cx="1298448" cy="201168"/>
          </a:xfrm>
          <a:prstGeom prst="rect">
            <a:avLst/>
          </a:prstGeom>
          <a:noFill/>
        </p:spPr>
        <p:txBody>
          <a:bodyPr wrap="square" lIns="0" rIns="0" tIns="0" bIns="0" anchor="t">
            <a:spAutoFit/>
          </a:bodyPr>
          <a:lstStyle/>
          <a:p>
            <a:pPr algn="ctr">
              <a:spcAft>
                <a:spcPts val="0"/>
              </a:spcAft>
            </a:pPr>
            <a:r>
              <a:rPr sz="800" b="1" i="0">
                <a:solidFill>
                  <a:srgbClr val="898781"/>
                </a:solidFill>
                <a:latin typeface="Segoe UI"/>
              </a:rPr>
              <a:t>CAMERAS</a:t>
            </a:r>
          </a:p>
        </p:txBody>
      </p:sp>
      <p:sp>
        <p:nvSpPr>
          <p:cNvPr id="10" name="TextBox 9"/>
          <p:cNvSpPr txBox="1"/>
          <p:nvPr/>
        </p:nvSpPr>
        <p:spPr>
          <a:xfrm>
            <a:off x="658368" y="4992624"/>
            <a:ext cx="1298448" cy="310896"/>
          </a:xfrm>
          <a:prstGeom prst="rect">
            <a:avLst/>
          </a:prstGeom>
          <a:noFill/>
        </p:spPr>
        <p:txBody>
          <a:bodyPr wrap="square" lIns="0" rIns="0" tIns="0" bIns="0" anchor="t">
            <a:spAutoFit/>
          </a:bodyPr>
          <a:lstStyle/>
          <a:p>
            <a:pPr algn="ctr">
              <a:spcAft>
                <a:spcPts val="0"/>
              </a:spcAft>
            </a:pPr>
            <a:r>
              <a:rPr sz="1700" b="1" i="0">
                <a:solidFill>
                  <a:srgbClr val="2A78D6"/>
                </a:solidFill>
                <a:latin typeface="Segoe UI"/>
              </a:rPr>
              <a:t>7</a:t>
            </a:r>
          </a:p>
        </p:txBody>
      </p:sp>
      <p:sp>
        <p:nvSpPr>
          <p:cNvPr id="11" name="Rounded Rectangle 10"/>
          <p:cNvSpPr/>
          <p:nvPr/>
        </p:nvSpPr>
        <p:spPr>
          <a:xfrm>
            <a:off x="2139696" y="4709160"/>
            <a:ext cx="1298448" cy="65836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9696" y="4809744"/>
            <a:ext cx="1298448" cy="201168"/>
          </a:xfrm>
          <a:prstGeom prst="rect">
            <a:avLst/>
          </a:prstGeom>
          <a:noFill/>
        </p:spPr>
        <p:txBody>
          <a:bodyPr wrap="square" lIns="0" rIns="0" tIns="0" bIns="0" anchor="t">
            <a:spAutoFit/>
          </a:bodyPr>
          <a:lstStyle/>
          <a:p>
            <a:pPr algn="ctr">
              <a:spcAft>
                <a:spcPts val="0"/>
              </a:spcAft>
            </a:pPr>
            <a:r>
              <a:rPr sz="800" b="1" i="0">
                <a:solidFill>
                  <a:srgbClr val="898781"/>
                </a:solidFill>
                <a:latin typeface="Segoe UI"/>
              </a:rPr>
              <a:t>ZONES</a:t>
            </a:r>
          </a:p>
        </p:txBody>
      </p:sp>
      <p:sp>
        <p:nvSpPr>
          <p:cNvPr id="13" name="TextBox 12"/>
          <p:cNvSpPr txBox="1"/>
          <p:nvPr/>
        </p:nvSpPr>
        <p:spPr>
          <a:xfrm>
            <a:off x="2139696" y="4992624"/>
            <a:ext cx="1298448" cy="310896"/>
          </a:xfrm>
          <a:prstGeom prst="rect">
            <a:avLst/>
          </a:prstGeom>
          <a:noFill/>
        </p:spPr>
        <p:txBody>
          <a:bodyPr wrap="square" lIns="0" rIns="0" tIns="0" bIns="0" anchor="t">
            <a:spAutoFit/>
          </a:bodyPr>
          <a:lstStyle/>
          <a:p>
            <a:pPr algn="ctr">
              <a:spcAft>
                <a:spcPts val="0"/>
              </a:spcAft>
            </a:pPr>
            <a:r>
              <a:rPr sz="1700" b="1" i="0">
                <a:solidFill>
                  <a:srgbClr val="2A78D6"/>
                </a:solidFill>
                <a:latin typeface="Segoe UI"/>
              </a:rPr>
              <a:t>21</a:t>
            </a:r>
          </a:p>
        </p:txBody>
      </p:sp>
      <p:sp>
        <p:nvSpPr>
          <p:cNvPr id="14" name="Rounded Rectangle 13"/>
          <p:cNvSpPr/>
          <p:nvPr/>
        </p:nvSpPr>
        <p:spPr>
          <a:xfrm>
            <a:off x="3621024" y="4709160"/>
            <a:ext cx="1298448" cy="65836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4809744"/>
            <a:ext cx="1298448" cy="201168"/>
          </a:xfrm>
          <a:prstGeom prst="rect">
            <a:avLst/>
          </a:prstGeom>
          <a:noFill/>
        </p:spPr>
        <p:txBody>
          <a:bodyPr wrap="square" lIns="0" rIns="0" tIns="0" bIns="0" anchor="t">
            <a:spAutoFit/>
          </a:bodyPr>
          <a:lstStyle/>
          <a:p>
            <a:pPr algn="ctr">
              <a:spcAft>
                <a:spcPts val="0"/>
              </a:spcAft>
            </a:pPr>
            <a:r>
              <a:rPr sz="800" b="1" i="0">
                <a:solidFill>
                  <a:srgbClr val="898781"/>
                </a:solidFill>
                <a:latin typeface="Segoe UI"/>
              </a:rPr>
              <a:t>WINDOWS</a:t>
            </a:r>
          </a:p>
        </p:txBody>
      </p:sp>
      <p:sp>
        <p:nvSpPr>
          <p:cNvPr id="16" name="TextBox 15"/>
          <p:cNvSpPr txBox="1"/>
          <p:nvPr/>
        </p:nvSpPr>
        <p:spPr>
          <a:xfrm>
            <a:off x="3621024" y="4992624"/>
            <a:ext cx="1298448" cy="310896"/>
          </a:xfrm>
          <a:prstGeom prst="rect">
            <a:avLst/>
          </a:prstGeom>
          <a:noFill/>
        </p:spPr>
        <p:txBody>
          <a:bodyPr wrap="square" lIns="0" rIns="0" tIns="0" bIns="0" anchor="t">
            <a:spAutoFit/>
          </a:bodyPr>
          <a:lstStyle/>
          <a:p>
            <a:pPr algn="ctr">
              <a:spcAft>
                <a:spcPts val="0"/>
              </a:spcAft>
            </a:pPr>
            <a:r>
              <a:rPr sz="1700" b="1" i="0">
                <a:solidFill>
                  <a:srgbClr val="2A78D6"/>
                </a:solidFill>
                <a:latin typeface="Segoe UI"/>
              </a:rPr>
              <a:t>2,451</a:t>
            </a:r>
          </a:p>
        </p:txBody>
      </p:sp>
      <p:sp>
        <p:nvSpPr>
          <p:cNvPr id="17" name="Rounded Rectangle 16"/>
          <p:cNvSpPr/>
          <p:nvPr/>
        </p:nvSpPr>
        <p:spPr>
          <a:xfrm>
            <a:off x="5102352" y="4709160"/>
            <a:ext cx="1298448" cy="65836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02352" y="4809744"/>
            <a:ext cx="1298448" cy="201168"/>
          </a:xfrm>
          <a:prstGeom prst="rect">
            <a:avLst/>
          </a:prstGeom>
          <a:noFill/>
        </p:spPr>
        <p:txBody>
          <a:bodyPr wrap="square" lIns="0" rIns="0" tIns="0" bIns="0" anchor="t">
            <a:spAutoFit/>
          </a:bodyPr>
          <a:lstStyle/>
          <a:p>
            <a:pPr algn="ctr">
              <a:spcAft>
                <a:spcPts val="0"/>
              </a:spcAft>
            </a:pPr>
            <a:r>
              <a:rPr sz="800" b="1" i="0">
                <a:solidFill>
                  <a:srgbClr val="898781"/>
                </a:solidFill>
                <a:latin typeface="Segoe UI"/>
              </a:rPr>
              <a:t>CHECKS</a:t>
            </a:r>
          </a:p>
        </p:txBody>
      </p:sp>
      <p:sp>
        <p:nvSpPr>
          <p:cNvPr id="19" name="TextBox 18"/>
          <p:cNvSpPr txBox="1"/>
          <p:nvPr/>
        </p:nvSpPr>
        <p:spPr>
          <a:xfrm>
            <a:off x="5102352" y="4992624"/>
            <a:ext cx="1298448" cy="310896"/>
          </a:xfrm>
          <a:prstGeom prst="rect">
            <a:avLst/>
          </a:prstGeom>
          <a:noFill/>
        </p:spPr>
        <p:txBody>
          <a:bodyPr wrap="square" lIns="0" rIns="0" tIns="0" bIns="0" anchor="t">
            <a:spAutoFit/>
          </a:bodyPr>
          <a:lstStyle/>
          <a:p>
            <a:pPr algn="ctr">
              <a:spcAft>
                <a:spcPts val="0"/>
              </a:spcAft>
            </a:pPr>
            <a:r>
              <a:rPr sz="1700" b="1" i="0">
                <a:solidFill>
                  <a:srgbClr val="1BAF7A"/>
                </a:solidFill>
                <a:latin typeface="Segoe UI"/>
              </a:rPr>
              <a:t>18/18</a:t>
            </a:r>
          </a:p>
        </p:txBody>
      </p:sp>
      <p:sp>
        <p:nvSpPr>
          <p:cNvPr id="20" name="Rectangle 19"/>
          <p:cNvSpPr/>
          <p:nvPr/>
        </p:nvSpPr>
        <p:spPr>
          <a:xfrm>
            <a:off x="658368" y="5742432"/>
            <a:ext cx="10874959" cy="1270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888736"/>
            <a:ext cx="10874959" cy="548640"/>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TEAM
</a:t>
            </a:r>
            <a:r>
              <a:rPr sz="1500" b="1" i="0">
                <a:solidFill>
                  <a:srgbClr val="0B0B0B"/>
                </a:solidFill>
                <a:latin typeface="Segoe UI"/>
              </a:rPr>
              <a:t>[TEAM NAME]
</a:t>
            </a:r>
            <a:r>
              <a:rPr sz="1150" b="0" i="0">
                <a:solidFill>
                  <a:srgbClr val="52514E"/>
                </a:solidFill>
                <a:latin typeface="Segoe UI"/>
              </a:rPr>
              <a:t>[Member 1]  ·  [Member 2]  ·  [Member 3]  ·  [Member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PROBLEM STATEMENT</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PS-08 — what is being asked</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Use the city's existing CCTV network to measure, optimise and predict — without new hardware.</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938528"/>
            <a:ext cx="5943600" cy="365760"/>
          </a:xfrm>
          <a:prstGeom prst="rect">
            <a:avLst/>
          </a:prstGeom>
          <a:noFill/>
        </p:spPr>
        <p:txBody>
          <a:bodyPr wrap="square" lIns="0" rIns="0" tIns="0" bIns="0" anchor="t">
            <a:spAutoFit/>
          </a:bodyPr>
          <a:lstStyle/>
          <a:p>
            <a:pPr algn="l">
              <a:spcAft>
                <a:spcPts val="1500"/>
              </a:spcAft>
            </a:pPr>
            <a:r>
              <a:rPr sz="1400" b="1" i="0">
                <a:solidFill>
                  <a:srgbClr val="2A78D6"/>
                </a:solidFill>
                <a:latin typeface="Segoe UI"/>
              </a:rPr>
              <a:t>▪  </a:t>
            </a:r>
            <a:r>
              <a:rPr sz="1400" b="1" i="0">
                <a:solidFill>
                  <a:srgbClr val="0B0B0B"/>
                </a:solidFill>
                <a:latin typeface="Segoe UI"/>
              </a:rPr>
              <a:t>Measure traffic density</a:t>
            </a:r>
            <a:r>
              <a:rPr sz="1400" b="0" i="0">
                <a:solidFill>
                  <a:srgbClr val="52514E"/>
                </a:solidFill>
                <a:latin typeface="Segoe UI"/>
              </a:rPr>
              <a:t> per lane, from existing CCTV feeds</a:t>
            </a:r>
          </a:p>
          <a:p>
            <a:pPr>
              <a:spcAft>
                <a:spcPts val="1500"/>
              </a:spcAft>
            </a:pPr>
            <a:r>
              <a:rPr sz="1400" b="1" i="0">
                <a:solidFill>
                  <a:srgbClr val="2A78D6"/>
                </a:solidFill>
                <a:latin typeface="Segoe UI"/>
              </a:rPr>
              <a:t>▪  </a:t>
            </a:r>
            <a:r>
              <a:rPr sz="1400" b="1" i="0">
                <a:solidFill>
                  <a:srgbClr val="0B0B0B"/>
                </a:solidFill>
                <a:latin typeface="Segoe UI"/>
              </a:rPr>
              <a:t>Optimise signal timing</a:t>
            </a:r>
            <a:r>
              <a:rPr sz="1400" b="0" i="0">
                <a:solidFill>
                  <a:srgbClr val="52514E"/>
                </a:solidFill>
                <a:latin typeface="Segoe UI"/>
              </a:rPr>
              <a:t> adaptively, from what is actually measured</a:t>
            </a:r>
          </a:p>
          <a:p>
            <a:pPr>
              <a:spcAft>
                <a:spcPts val="1500"/>
              </a:spcAft>
            </a:pPr>
            <a:r>
              <a:rPr sz="1400" b="1" i="0">
                <a:solidFill>
                  <a:srgbClr val="2A78D6"/>
                </a:solidFill>
                <a:latin typeface="Segoe UI"/>
              </a:rPr>
              <a:t>▪  </a:t>
            </a:r>
            <a:r>
              <a:rPr sz="1400" b="1" i="0">
                <a:solidFill>
                  <a:srgbClr val="0B0B0B"/>
                </a:solidFill>
                <a:latin typeface="Segoe UI"/>
              </a:rPr>
              <a:t>Detect bottlenecks</a:t>
            </a:r>
            <a:r>
              <a:rPr sz="1400" b="0" i="0">
                <a:solidFill>
                  <a:srgbClr val="52514E"/>
                </a:solidFill>
                <a:latin typeface="Segoe UI"/>
              </a:rPr>
              <a:t> and identify where they form</a:t>
            </a:r>
          </a:p>
          <a:p>
            <a:pPr>
              <a:spcAft>
                <a:spcPts val="1500"/>
              </a:spcAft>
            </a:pPr>
            <a:r>
              <a:rPr sz="1400" b="1" i="0">
                <a:solidFill>
                  <a:srgbClr val="2A78D6"/>
                </a:solidFill>
                <a:latin typeface="Segoe UI"/>
              </a:rPr>
              <a:t>▪  </a:t>
            </a:r>
            <a:r>
              <a:rPr sz="1400" b="1" i="0">
                <a:solidFill>
                  <a:srgbClr val="0B0B0B"/>
                </a:solidFill>
                <a:latin typeface="Segoe UI"/>
              </a:rPr>
              <a:t>Recommend improvements</a:t>
            </a:r>
            <a:r>
              <a:rPr sz="1400" b="0" i="0">
                <a:solidFill>
                  <a:srgbClr val="52514E"/>
                </a:solidFill>
                <a:latin typeface="Segoe UI"/>
              </a:rPr>
              <a:t> to infrastructure, with evidence</a:t>
            </a:r>
          </a:p>
        </p:txBody>
      </p:sp>
      <p:sp>
        <p:nvSpPr>
          <p:cNvPr id="7" name="TextBox 6"/>
          <p:cNvSpPr txBox="1"/>
          <p:nvPr/>
        </p:nvSpPr>
        <p:spPr>
          <a:xfrm>
            <a:off x="7059168" y="1938528"/>
            <a:ext cx="4663440" cy="274320"/>
          </a:xfrm>
          <a:prstGeom prst="rect">
            <a:avLst/>
          </a:prstGeom>
          <a:noFill/>
        </p:spPr>
        <p:txBody>
          <a:bodyPr wrap="square" lIns="0" rIns="0" tIns="0" bIns="0" anchor="t">
            <a:spAutoFit/>
          </a:bodyPr>
          <a:lstStyle/>
          <a:p>
            <a:pPr algn="l">
              <a:spcAft>
                <a:spcPts val="0"/>
              </a:spcAft>
            </a:pPr>
            <a:r>
              <a:rPr sz="950" b="1" i="0">
                <a:solidFill>
                  <a:srgbClr val="898781"/>
                </a:solidFill>
                <a:latin typeface="Segoe UI"/>
              </a:rPr>
              <a:t>WHAT WE WERE GIVEN</a:t>
            </a:r>
          </a:p>
        </p:txBody>
      </p:sp>
      <p:sp>
        <p:nvSpPr>
          <p:cNvPr id="8" name="TextBox 7"/>
          <p:cNvSpPr txBox="1"/>
          <p:nvPr/>
        </p:nvSpPr>
        <p:spPr>
          <a:xfrm>
            <a:off x="7132320" y="2295144"/>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Source</a:t>
            </a:r>
          </a:p>
        </p:txBody>
      </p:sp>
      <p:sp>
        <p:nvSpPr>
          <p:cNvPr id="9" name="TextBox 8"/>
          <p:cNvSpPr txBox="1"/>
          <p:nvPr/>
        </p:nvSpPr>
        <p:spPr>
          <a:xfrm>
            <a:off x="9235440" y="2295144"/>
            <a:ext cx="241401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7 Surat CCTV clips</a:t>
            </a:r>
          </a:p>
        </p:txBody>
      </p:sp>
      <p:sp>
        <p:nvSpPr>
          <p:cNvPr id="10" name="Rectangle 9"/>
          <p:cNvSpPr/>
          <p:nvPr/>
        </p:nvSpPr>
        <p:spPr>
          <a:xfrm>
            <a:off x="7059168" y="2542032"/>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2606040"/>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Resolution</a:t>
            </a:r>
          </a:p>
        </p:txBody>
      </p:sp>
      <p:sp>
        <p:nvSpPr>
          <p:cNvPr id="12" name="TextBox 11"/>
          <p:cNvSpPr txBox="1"/>
          <p:nvPr/>
        </p:nvSpPr>
        <p:spPr>
          <a:xfrm>
            <a:off x="9235440" y="2606040"/>
            <a:ext cx="241401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1920×1080 @ 20 fps</a:t>
            </a:r>
          </a:p>
        </p:txBody>
      </p:sp>
      <p:sp>
        <p:nvSpPr>
          <p:cNvPr id="13" name="Rectangle 12"/>
          <p:cNvSpPr/>
          <p:nvPr/>
        </p:nvSpPr>
        <p:spPr>
          <a:xfrm>
            <a:off x="7059168" y="2852928"/>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916936"/>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Duration</a:t>
            </a:r>
          </a:p>
        </p:txBody>
      </p:sp>
      <p:sp>
        <p:nvSpPr>
          <p:cNvPr id="15" name="TextBox 14"/>
          <p:cNvSpPr txBox="1"/>
          <p:nvPr/>
        </p:nvSpPr>
        <p:spPr>
          <a:xfrm>
            <a:off x="9235440" y="2916936"/>
            <a:ext cx="241401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≈31.5 min total</a:t>
            </a:r>
          </a:p>
        </p:txBody>
      </p:sp>
      <p:sp>
        <p:nvSpPr>
          <p:cNvPr id="16" name="Rectangle 15"/>
          <p:cNvSpPr/>
          <p:nvPr/>
        </p:nvSpPr>
        <p:spPr>
          <a:xfrm>
            <a:off x="7059168" y="3163824"/>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3227832"/>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Ground truth</a:t>
            </a:r>
          </a:p>
        </p:txBody>
      </p:sp>
      <p:sp>
        <p:nvSpPr>
          <p:cNvPr id="18" name="TextBox 17"/>
          <p:cNvSpPr txBox="1"/>
          <p:nvPr/>
        </p:nvSpPr>
        <p:spPr>
          <a:xfrm>
            <a:off x="9235440" y="3227832"/>
            <a:ext cx="241401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none</a:t>
            </a:r>
          </a:p>
        </p:txBody>
      </p:sp>
      <p:sp>
        <p:nvSpPr>
          <p:cNvPr id="19" name="Rectangle 18"/>
          <p:cNvSpPr/>
          <p:nvPr/>
        </p:nvSpPr>
        <p:spPr>
          <a:xfrm>
            <a:off x="7059168" y="3474720"/>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3538728"/>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Camera calibration</a:t>
            </a:r>
          </a:p>
        </p:txBody>
      </p:sp>
      <p:sp>
        <p:nvSpPr>
          <p:cNvPr id="21" name="TextBox 20"/>
          <p:cNvSpPr txBox="1"/>
          <p:nvPr/>
        </p:nvSpPr>
        <p:spPr>
          <a:xfrm>
            <a:off x="9235440" y="3538728"/>
            <a:ext cx="241401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none</a:t>
            </a:r>
          </a:p>
        </p:txBody>
      </p:sp>
      <p:sp>
        <p:nvSpPr>
          <p:cNvPr id="22" name="Rectangle 21"/>
          <p:cNvSpPr/>
          <p:nvPr/>
        </p:nvSpPr>
        <p:spPr>
          <a:xfrm>
            <a:off x="7059168" y="3785616"/>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3849624"/>
            <a:ext cx="195681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Signal timing data</a:t>
            </a:r>
          </a:p>
        </p:txBody>
      </p:sp>
      <p:sp>
        <p:nvSpPr>
          <p:cNvPr id="24" name="TextBox 23"/>
          <p:cNvSpPr txBox="1"/>
          <p:nvPr/>
        </p:nvSpPr>
        <p:spPr>
          <a:xfrm>
            <a:off x="9235440" y="3849624"/>
            <a:ext cx="241401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none</a:t>
            </a:r>
          </a:p>
        </p:txBody>
      </p:sp>
      <p:sp>
        <p:nvSpPr>
          <p:cNvPr id="25" name="Rectangle 24"/>
          <p:cNvSpPr/>
          <p:nvPr/>
        </p:nvSpPr>
        <p:spPr>
          <a:xfrm>
            <a:off x="7059168" y="4096512"/>
            <a:ext cx="466344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892040"/>
            <a:ext cx="10874959" cy="93268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4892040"/>
            <a:ext cx="40640" cy="93268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010912"/>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The constraint that shaped everything</a:t>
            </a:r>
          </a:p>
        </p:txBody>
      </p:sp>
      <p:sp>
        <p:nvSpPr>
          <p:cNvPr id="29" name="TextBox 28"/>
          <p:cNvSpPr txBox="1"/>
          <p:nvPr/>
        </p:nvSpPr>
        <p:spPr>
          <a:xfrm>
            <a:off x="859536" y="5239512"/>
            <a:ext cx="10472623" cy="49377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No surveyed reference ships with this data, so no pixel-to-metre scale can be recovered from it. The system separates what it measures from what it estimates, rather than quietly presenting one as the other.</a:t>
            </a:r>
          </a:p>
        </p:txBody>
      </p:sp>
      <p:sp>
        <p:nvSpPr>
          <p:cNvPr id="30" name="TextBox 29"/>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1" name="TextBox 30"/>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PROBLEM UNDERSTANDING</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What this data can — and cannot — support</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Reading the footage before writing the system changed the design twice.</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10874959" cy="310896"/>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02536"/>
            <a:ext cx="213969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Camera</a:t>
            </a:r>
          </a:p>
        </p:txBody>
      </p:sp>
      <p:sp>
        <p:nvSpPr>
          <p:cNvPr id="8" name="TextBox 7"/>
          <p:cNvSpPr txBox="1"/>
          <p:nvPr/>
        </p:nvSpPr>
        <p:spPr>
          <a:xfrm>
            <a:off x="3017520" y="2002536"/>
            <a:ext cx="351129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Scene</a:t>
            </a:r>
          </a:p>
        </p:txBody>
      </p:sp>
      <p:sp>
        <p:nvSpPr>
          <p:cNvPr id="9" name="TextBox 8"/>
          <p:cNvSpPr txBox="1"/>
          <p:nvPr/>
        </p:nvSpPr>
        <p:spPr>
          <a:xfrm>
            <a:off x="6675120" y="2002536"/>
            <a:ext cx="122529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Mode</a:t>
            </a:r>
          </a:p>
        </p:txBody>
      </p:sp>
      <p:sp>
        <p:nvSpPr>
          <p:cNvPr id="10" name="TextBox 9"/>
          <p:cNvSpPr txBox="1"/>
          <p:nvPr/>
        </p:nvSpPr>
        <p:spPr>
          <a:xfrm>
            <a:off x="8046720" y="2002536"/>
            <a:ext cx="341985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What it can support</a:t>
            </a:r>
          </a:p>
        </p:txBody>
      </p:sp>
      <p:sp>
        <p:nvSpPr>
          <p:cNvPr id="11" name="Rectangle 10"/>
          <p:cNvSpPr/>
          <p:nvPr/>
        </p:nvSpPr>
        <p:spPr>
          <a:xfrm>
            <a:off x="658368" y="224942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249424"/>
            <a:ext cx="10874959" cy="310896"/>
          </a:xfrm>
          <a:prstGeom prst="rect">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313432"/>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GauravPath</a:t>
            </a:r>
          </a:p>
        </p:txBody>
      </p:sp>
      <p:sp>
        <p:nvSpPr>
          <p:cNvPr id="14" name="TextBox 13"/>
          <p:cNvSpPr txBox="1"/>
          <p:nvPr/>
        </p:nvSpPr>
        <p:spPr>
          <a:xfrm>
            <a:off x="3017520" y="2313432"/>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Divided arterial, marked lanes</a:t>
            </a:r>
          </a:p>
        </p:txBody>
      </p:sp>
      <p:sp>
        <p:nvSpPr>
          <p:cNvPr id="15" name="TextBox 14"/>
          <p:cNvSpPr txBox="1"/>
          <p:nvPr/>
        </p:nvSpPr>
        <p:spPr>
          <a:xfrm>
            <a:off x="6675120" y="2313432"/>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junction</a:t>
            </a:r>
          </a:p>
        </p:txBody>
      </p:sp>
      <p:sp>
        <p:nvSpPr>
          <p:cNvPr id="16" name="TextBox 15"/>
          <p:cNvSpPr txBox="1"/>
          <p:nvPr/>
        </p:nvSpPr>
        <p:spPr>
          <a:xfrm>
            <a:off x="8046720" y="2313432"/>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Lane density, signal timing</a:t>
            </a:r>
          </a:p>
        </p:txBody>
      </p:sp>
      <p:sp>
        <p:nvSpPr>
          <p:cNvPr id="17" name="Rectangle 16"/>
          <p:cNvSpPr/>
          <p:nvPr/>
        </p:nvSpPr>
        <p:spPr>
          <a:xfrm>
            <a:off x="658368" y="256032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560320"/>
            <a:ext cx="10874959" cy="310896"/>
          </a:xfrm>
          <a:prstGeom prst="rect">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624328"/>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Rokadiya Hanuman</a:t>
            </a:r>
          </a:p>
        </p:txBody>
      </p:sp>
      <p:sp>
        <p:nvSpPr>
          <p:cNvPr id="20" name="TextBox 19"/>
          <p:cNvSpPr txBox="1"/>
          <p:nvPr/>
        </p:nvSpPr>
        <p:spPr>
          <a:xfrm>
            <a:off x="3017520" y="2624328"/>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Divided multi-lane road</a:t>
            </a:r>
          </a:p>
        </p:txBody>
      </p:sp>
      <p:sp>
        <p:nvSpPr>
          <p:cNvPr id="21" name="TextBox 20"/>
          <p:cNvSpPr txBox="1"/>
          <p:nvPr/>
        </p:nvSpPr>
        <p:spPr>
          <a:xfrm>
            <a:off x="6675120" y="2624328"/>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junction</a:t>
            </a:r>
          </a:p>
        </p:txBody>
      </p:sp>
      <p:sp>
        <p:nvSpPr>
          <p:cNvPr id="22" name="TextBox 21"/>
          <p:cNvSpPr txBox="1"/>
          <p:nvPr/>
        </p:nvSpPr>
        <p:spPr>
          <a:xfrm>
            <a:off x="8046720" y="2624328"/>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Lane density, signal timing</a:t>
            </a:r>
          </a:p>
        </p:txBody>
      </p:sp>
      <p:sp>
        <p:nvSpPr>
          <p:cNvPr id="23" name="Rectangle 22"/>
          <p:cNvSpPr/>
          <p:nvPr/>
        </p:nvSpPr>
        <p:spPr>
          <a:xfrm>
            <a:off x="658368" y="287121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935224"/>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Chauta Bazaar</a:t>
            </a:r>
          </a:p>
        </p:txBody>
      </p:sp>
      <p:sp>
        <p:nvSpPr>
          <p:cNvPr id="25" name="TextBox 24"/>
          <p:cNvSpPr txBox="1"/>
          <p:nvPr/>
        </p:nvSpPr>
        <p:spPr>
          <a:xfrm>
            <a:off x="3017520" y="2935224"/>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Dense market street</a:t>
            </a:r>
          </a:p>
        </p:txBody>
      </p:sp>
      <p:sp>
        <p:nvSpPr>
          <p:cNvPr id="26" name="TextBox 25"/>
          <p:cNvSpPr txBox="1"/>
          <p:nvPr/>
        </p:nvSpPr>
        <p:spPr>
          <a:xfrm>
            <a:off x="6675120" y="2935224"/>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area</a:t>
            </a:r>
          </a:p>
        </p:txBody>
      </p:sp>
      <p:sp>
        <p:nvSpPr>
          <p:cNvPr id="27" name="TextBox 26"/>
          <p:cNvSpPr txBox="1"/>
          <p:nvPr/>
        </p:nvSpPr>
        <p:spPr>
          <a:xfrm>
            <a:off x="8046720" y="2935224"/>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Occupancy, crowding, alerts</a:t>
            </a:r>
          </a:p>
        </p:txBody>
      </p:sp>
      <p:sp>
        <p:nvSpPr>
          <p:cNvPr id="28" name="Rectangle 27"/>
          <p:cNvSpPr/>
          <p:nvPr/>
        </p:nvSpPr>
        <p:spPr>
          <a:xfrm>
            <a:off x="658368" y="3182112"/>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246120"/>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Mahidharpura</a:t>
            </a:r>
          </a:p>
        </p:txBody>
      </p:sp>
      <p:sp>
        <p:nvSpPr>
          <p:cNvPr id="30" name="TextBox 29"/>
          <p:cNvSpPr txBox="1"/>
          <p:nvPr/>
        </p:nvSpPr>
        <p:spPr>
          <a:xfrm>
            <a:off x="3017520" y="3246120"/>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Near-total gridlock</a:t>
            </a:r>
          </a:p>
        </p:txBody>
      </p:sp>
      <p:sp>
        <p:nvSpPr>
          <p:cNvPr id="31" name="TextBox 30"/>
          <p:cNvSpPr txBox="1"/>
          <p:nvPr/>
        </p:nvSpPr>
        <p:spPr>
          <a:xfrm>
            <a:off x="6675120" y="3246120"/>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area</a:t>
            </a:r>
          </a:p>
        </p:txBody>
      </p:sp>
      <p:sp>
        <p:nvSpPr>
          <p:cNvPr id="32" name="TextBox 31"/>
          <p:cNvSpPr txBox="1"/>
          <p:nvPr/>
        </p:nvSpPr>
        <p:spPr>
          <a:xfrm>
            <a:off x="8046720" y="3246120"/>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Occupancy, crowding, alerts</a:t>
            </a:r>
          </a:p>
        </p:txBody>
      </p:sp>
      <p:sp>
        <p:nvSpPr>
          <p:cNvPr id="33" name="Rectangle 32"/>
          <p:cNvSpPr/>
          <p:nvPr/>
        </p:nvSpPr>
        <p:spPr>
          <a:xfrm>
            <a:off x="658368" y="3493008"/>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557016"/>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Gopi Talav</a:t>
            </a:r>
          </a:p>
        </p:txBody>
      </p:sp>
      <p:sp>
        <p:nvSpPr>
          <p:cNvPr id="35" name="TextBox 34"/>
          <p:cNvSpPr txBox="1"/>
          <p:nvPr/>
        </p:nvSpPr>
        <p:spPr>
          <a:xfrm>
            <a:off x="3017520" y="3557016"/>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Pedestrian-dominant gate</a:t>
            </a:r>
          </a:p>
        </p:txBody>
      </p:sp>
      <p:sp>
        <p:nvSpPr>
          <p:cNvPr id="36" name="TextBox 35"/>
          <p:cNvSpPr txBox="1"/>
          <p:nvPr/>
        </p:nvSpPr>
        <p:spPr>
          <a:xfrm>
            <a:off x="6675120" y="3557016"/>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area</a:t>
            </a:r>
          </a:p>
        </p:txBody>
      </p:sp>
      <p:sp>
        <p:nvSpPr>
          <p:cNvPr id="37" name="TextBox 36"/>
          <p:cNvSpPr txBox="1"/>
          <p:nvPr/>
        </p:nvSpPr>
        <p:spPr>
          <a:xfrm>
            <a:off x="8046720" y="3557016"/>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Occupancy, crowding, alerts</a:t>
            </a:r>
          </a:p>
        </p:txBody>
      </p:sp>
      <p:sp>
        <p:nvSpPr>
          <p:cNvPr id="38" name="Rectangle 37"/>
          <p:cNvSpPr/>
          <p:nvPr/>
        </p:nvSpPr>
        <p:spPr>
          <a:xfrm>
            <a:off x="658368" y="380390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867912"/>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Rly Station</a:t>
            </a:r>
          </a:p>
        </p:txBody>
      </p:sp>
      <p:sp>
        <p:nvSpPr>
          <p:cNvPr id="40" name="TextBox 39"/>
          <p:cNvSpPr txBox="1"/>
          <p:nvPr/>
        </p:nvSpPr>
        <p:spPr>
          <a:xfrm>
            <a:off x="3017520" y="3867912"/>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Station forecourt</a:t>
            </a:r>
          </a:p>
        </p:txBody>
      </p:sp>
      <p:sp>
        <p:nvSpPr>
          <p:cNvPr id="41" name="TextBox 40"/>
          <p:cNvSpPr txBox="1"/>
          <p:nvPr/>
        </p:nvSpPr>
        <p:spPr>
          <a:xfrm>
            <a:off x="6675120" y="3867912"/>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area</a:t>
            </a:r>
          </a:p>
        </p:txBody>
      </p:sp>
      <p:sp>
        <p:nvSpPr>
          <p:cNvPr id="42" name="TextBox 41"/>
          <p:cNvSpPr txBox="1"/>
          <p:nvPr/>
        </p:nvSpPr>
        <p:spPr>
          <a:xfrm>
            <a:off x="8046720" y="3867912"/>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Occupancy, crowding, alerts</a:t>
            </a:r>
          </a:p>
        </p:txBody>
      </p:sp>
      <p:sp>
        <p:nvSpPr>
          <p:cNvPr id="43" name="Rectangle 42"/>
          <p:cNvSpPr/>
          <p:nvPr/>
        </p:nvSpPr>
        <p:spPr>
          <a:xfrm>
            <a:off x="658368" y="411480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178808"/>
            <a:ext cx="213969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Central Bus Depo</a:t>
            </a:r>
          </a:p>
        </p:txBody>
      </p:sp>
      <p:sp>
        <p:nvSpPr>
          <p:cNvPr id="45" name="TextBox 44"/>
          <p:cNvSpPr txBox="1"/>
          <p:nvPr/>
        </p:nvSpPr>
        <p:spPr>
          <a:xfrm>
            <a:off x="3017520" y="4178808"/>
            <a:ext cx="3511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Depot platform</a:t>
            </a:r>
          </a:p>
        </p:txBody>
      </p:sp>
      <p:sp>
        <p:nvSpPr>
          <p:cNvPr id="46" name="TextBox 45"/>
          <p:cNvSpPr txBox="1"/>
          <p:nvPr/>
        </p:nvSpPr>
        <p:spPr>
          <a:xfrm>
            <a:off x="6675120" y="4178808"/>
            <a:ext cx="122529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area</a:t>
            </a:r>
          </a:p>
        </p:txBody>
      </p:sp>
      <p:sp>
        <p:nvSpPr>
          <p:cNvPr id="47" name="TextBox 46"/>
          <p:cNvSpPr txBox="1"/>
          <p:nvPr/>
        </p:nvSpPr>
        <p:spPr>
          <a:xfrm>
            <a:off x="8046720" y="4178808"/>
            <a:ext cx="34198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Occupancy, crowding, alerts</a:t>
            </a:r>
          </a:p>
        </p:txBody>
      </p:sp>
      <p:sp>
        <p:nvSpPr>
          <p:cNvPr id="48" name="Rectangle 47"/>
          <p:cNvSpPr/>
          <p:nvPr/>
        </p:nvSpPr>
        <p:spPr>
          <a:xfrm>
            <a:off x="658368" y="442569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58368" y="5029200"/>
            <a:ext cx="10874959" cy="1115568"/>
          </a:xfrm>
          <a:prstGeom prst="roundRect">
            <a:avLst>
              <a:gd name="adj" fmla="val 4000"/>
            </a:avLst>
          </a:prstGeom>
          <a:solidFill>
            <a:srgbClr val="FDF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368" y="5029200"/>
            <a:ext cx="40640" cy="111556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9536" y="5148072"/>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Only 2 of 7 cameras can support the requested measurement</a:t>
            </a:r>
          </a:p>
        </p:txBody>
      </p:sp>
      <p:sp>
        <p:nvSpPr>
          <p:cNvPr id="52" name="TextBox 51"/>
          <p:cNvSpPr txBox="1"/>
          <p:nvPr/>
        </p:nvSpPr>
        <p:spPr>
          <a:xfrm>
            <a:off x="859536" y="5376672"/>
            <a:ext cx="10472623" cy="67665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Five cameras watch market streets, a station forecourt and a bus depot — no lane discipline, no signal to optimise. "Lane density" is not a measurable quantity there, so forcing it would mean inventing numbers. Those run in area mode instead.</a:t>
            </a:r>
          </a:p>
        </p:txBody>
      </p:sp>
      <p:sp>
        <p:nvSpPr>
          <p:cNvPr id="53" name="TextBox 52"/>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54" name="TextBox 53"/>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PROBLEM UNDERSTANDING · THE KEY DISCOVERY</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In the worst gridlock, detection counts fewer vehicles</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The failure mode that would have inverted every ranking in the system — silently.</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5760720" cy="310896"/>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02536"/>
            <a:ext cx="2139696" cy="310896"/>
          </a:xfrm>
          <a:prstGeom prst="rect">
            <a:avLst/>
          </a:prstGeom>
          <a:noFill/>
        </p:spPr>
        <p:txBody>
          <a:bodyPr wrap="square" lIns="0" rIns="0" tIns="0" bIns="0" anchor="ctr">
            <a:spAutoFit/>
          </a:bodyPr>
          <a:lstStyle/>
          <a:p>
            <a:pPr algn="l">
              <a:spcAft>
                <a:spcPts val="0"/>
              </a:spcAft>
            </a:pPr>
            <a:r>
              <a:rPr sz="1080" b="1" i="0">
                <a:solidFill>
                  <a:srgbClr val="898781"/>
                </a:solidFill>
                <a:latin typeface="Segoe UI"/>
              </a:rPr>
              <a:t>Camera</a:t>
            </a:r>
          </a:p>
        </p:txBody>
      </p:sp>
      <p:sp>
        <p:nvSpPr>
          <p:cNvPr id="8" name="TextBox 7"/>
          <p:cNvSpPr txBox="1"/>
          <p:nvPr/>
        </p:nvSpPr>
        <p:spPr>
          <a:xfrm>
            <a:off x="3017520" y="2002536"/>
            <a:ext cx="1408176" cy="310896"/>
          </a:xfrm>
          <a:prstGeom prst="rect">
            <a:avLst/>
          </a:prstGeom>
          <a:noFill/>
        </p:spPr>
        <p:txBody>
          <a:bodyPr wrap="square" lIns="0" rIns="0" tIns="0" bIns="0" anchor="ctr">
            <a:spAutoFit/>
          </a:bodyPr>
          <a:lstStyle/>
          <a:p>
            <a:pPr algn="l">
              <a:spcAft>
                <a:spcPts val="0"/>
              </a:spcAft>
            </a:pPr>
            <a:r>
              <a:rPr sz="1080" b="1" i="0">
                <a:solidFill>
                  <a:srgbClr val="898781"/>
                </a:solidFill>
                <a:latin typeface="Segoe UI"/>
              </a:rPr>
              <a:t>Detections</a:t>
            </a:r>
          </a:p>
        </p:txBody>
      </p:sp>
      <p:sp>
        <p:nvSpPr>
          <p:cNvPr id="9" name="TextBox 8"/>
          <p:cNvSpPr txBox="1"/>
          <p:nvPr/>
        </p:nvSpPr>
        <p:spPr>
          <a:xfrm>
            <a:off x="4572000" y="2002536"/>
            <a:ext cx="1773936" cy="310896"/>
          </a:xfrm>
          <a:prstGeom prst="rect">
            <a:avLst/>
          </a:prstGeom>
          <a:noFill/>
        </p:spPr>
        <p:txBody>
          <a:bodyPr wrap="square" lIns="0" rIns="0" tIns="0" bIns="0" anchor="ctr">
            <a:spAutoFit/>
          </a:bodyPr>
          <a:lstStyle/>
          <a:p>
            <a:pPr algn="l">
              <a:spcAft>
                <a:spcPts val="0"/>
              </a:spcAft>
            </a:pPr>
            <a:r>
              <a:rPr sz="1080" b="1" i="0">
                <a:solidFill>
                  <a:srgbClr val="898781"/>
                </a:solidFill>
                <a:latin typeface="Segoe UI"/>
              </a:rPr>
              <a:t>Actual condition</a:t>
            </a:r>
          </a:p>
        </p:txBody>
      </p:sp>
      <p:sp>
        <p:nvSpPr>
          <p:cNvPr id="10" name="Rectangle 9"/>
          <p:cNvSpPr/>
          <p:nvPr/>
        </p:nvSpPr>
        <p:spPr>
          <a:xfrm>
            <a:off x="658368" y="2249424"/>
            <a:ext cx="57607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13432"/>
            <a:ext cx="213969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Rokadiya Hanuman</a:t>
            </a:r>
          </a:p>
        </p:txBody>
      </p:sp>
      <p:sp>
        <p:nvSpPr>
          <p:cNvPr id="12" name="TextBox 11"/>
          <p:cNvSpPr txBox="1"/>
          <p:nvPr/>
        </p:nvSpPr>
        <p:spPr>
          <a:xfrm>
            <a:off x="3017520" y="2313432"/>
            <a:ext cx="140817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7,664</a:t>
            </a:r>
          </a:p>
        </p:txBody>
      </p:sp>
      <p:sp>
        <p:nvSpPr>
          <p:cNvPr id="13" name="TextBox 12"/>
          <p:cNvSpPr txBox="1"/>
          <p:nvPr/>
        </p:nvSpPr>
        <p:spPr>
          <a:xfrm>
            <a:off x="4572000" y="2313432"/>
            <a:ext cx="1773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flowing arterial</a:t>
            </a:r>
          </a:p>
        </p:txBody>
      </p:sp>
      <p:sp>
        <p:nvSpPr>
          <p:cNvPr id="14" name="Rectangle 13"/>
          <p:cNvSpPr/>
          <p:nvPr/>
        </p:nvSpPr>
        <p:spPr>
          <a:xfrm>
            <a:off x="658368" y="2560320"/>
            <a:ext cx="57607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624328"/>
            <a:ext cx="213969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Central Bus Depo</a:t>
            </a:r>
          </a:p>
        </p:txBody>
      </p:sp>
      <p:sp>
        <p:nvSpPr>
          <p:cNvPr id="16" name="TextBox 15"/>
          <p:cNvSpPr txBox="1"/>
          <p:nvPr/>
        </p:nvSpPr>
        <p:spPr>
          <a:xfrm>
            <a:off x="3017520" y="2624328"/>
            <a:ext cx="140817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2,905</a:t>
            </a:r>
          </a:p>
        </p:txBody>
      </p:sp>
      <p:sp>
        <p:nvSpPr>
          <p:cNvPr id="17" name="TextBox 16"/>
          <p:cNvSpPr txBox="1"/>
          <p:nvPr/>
        </p:nvSpPr>
        <p:spPr>
          <a:xfrm>
            <a:off x="4572000" y="2624328"/>
            <a:ext cx="1773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busy</a:t>
            </a:r>
          </a:p>
        </p:txBody>
      </p:sp>
      <p:sp>
        <p:nvSpPr>
          <p:cNvPr id="18" name="Rectangle 17"/>
          <p:cNvSpPr/>
          <p:nvPr/>
        </p:nvSpPr>
        <p:spPr>
          <a:xfrm>
            <a:off x="658368" y="2871216"/>
            <a:ext cx="57607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35224"/>
            <a:ext cx="213969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GauravPath</a:t>
            </a:r>
          </a:p>
        </p:txBody>
      </p:sp>
      <p:sp>
        <p:nvSpPr>
          <p:cNvPr id="20" name="TextBox 19"/>
          <p:cNvSpPr txBox="1"/>
          <p:nvPr/>
        </p:nvSpPr>
        <p:spPr>
          <a:xfrm>
            <a:off x="3017520" y="2935224"/>
            <a:ext cx="140817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1,957</a:t>
            </a:r>
          </a:p>
        </p:txBody>
      </p:sp>
      <p:sp>
        <p:nvSpPr>
          <p:cNvPr id="21" name="TextBox 20"/>
          <p:cNvSpPr txBox="1"/>
          <p:nvPr/>
        </p:nvSpPr>
        <p:spPr>
          <a:xfrm>
            <a:off x="4572000" y="2935224"/>
            <a:ext cx="1773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free-flowing</a:t>
            </a:r>
          </a:p>
        </p:txBody>
      </p:sp>
      <p:sp>
        <p:nvSpPr>
          <p:cNvPr id="22" name="Rectangle 21"/>
          <p:cNvSpPr/>
          <p:nvPr/>
        </p:nvSpPr>
        <p:spPr>
          <a:xfrm>
            <a:off x="658368" y="3182112"/>
            <a:ext cx="57607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182112"/>
            <a:ext cx="5760720" cy="310896"/>
          </a:xfrm>
          <a:prstGeom prst="rect">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246120"/>
            <a:ext cx="213969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Mahidharpura</a:t>
            </a:r>
          </a:p>
        </p:txBody>
      </p:sp>
      <p:sp>
        <p:nvSpPr>
          <p:cNvPr id="25" name="TextBox 24"/>
          <p:cNvSpPr txBox="1"/>
          <p:nvPr/>
        </p:nvSpPr>
        <p:spPr>
          <a:xfrm>
            <a:off x="3017520" y="3246120"/>
            <a:ext cx="140817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463</a:t>
            </a:r>
          </a:p>
        </p:txBody>
      </p:sp>
      <p:sp>
        <p:nvSpPr>
          <p:cNvPr id="26" name="TextBox 25"/>
          <p:cNvSpPr txBox="1"/>
          <p:nvPr/>
        </p:nvSpPr>
        <p:spPr>
          <a:xfrm>
            <a:off x="4572000" y="3246120"/>
            <a:ext cx="1773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worst gridlock in dataset</a:t>
            </a:r>
          </a:p>
        </p:txBody>
      </p:sp>
      <p:sp>
        <p:nvSpPr>
          <p:cNvPr id="27" name="Rectangle 26"/>
          <p:cNvSpPr/>
          <p:nvPr/>
        </p:nvSpPr>
        <p:spPr>
          <a:xfrm>
            <a:off x="658368" y="3493008"/>
            <a:ext cx="57607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1938528"/>
            <a:ext cx="4846320" cy="365760"/>
          </a:xfrm>
          <a:prstGeom prst="rect">
            <a:avLst/>
          </a:prstGeom>
          <a:noFill/>
        </p:spPr>
        <p:txBody>
          <a:bodyPr wrap="square" lIns="0" rIns="0" tIns="0" bIns="0" anchor="t">
            <a:spAutoFit/>
          </a:bodyPr>
          <a:lstStyle/>
          <a:p>
            <a:pPr algn="l">
              <a:spcAft>
                <a:spcPts val="1100"/>
              </a:spcAft>
            </a:pPr>
            <a:r>
              <a:rPr sz="1250" b="1" i="0">
                <a:solidFill>
                  <a:srgbClr val="2A78D6"/>
                </a:solidFill>
                <a:latin typeface="Segoe UI"/>
              </a:rPr>
              <a:t>▪  </a:t>
            </a:r>
            <a:r>
              <a:rPr sz="1250" b="1" i="0">
                <a:solidFill>
                  <a:srgbClr val="0B0B0B"/>
                </a:solidFill>
                <a:latin typeface="Segoe UI"/>
              </a:rPr>
              <a:t>Cause. </a:t>
            </a:r>
            <a:r>
              <a:rPr sz="1250" b="0" i="0">
                <a:solidFill>
                  <a:srgbClr val="52514E"/>
                </a:solidFill>
                <a:latin typeface="Segoe UI"/>
              </a:rPr>
              <a:t>At extreme density a wall of overlapping vehicles stops being separable and the detector's recall collapses.</a:t>
            </a:r>
          </a:p>
          <a:p>
            <a:pPr>
              <a:spcAft>
                <a:spcPts val="1100"/>
              </a:spcAft>
            </a:pPr>
            <a:r>
              <a:rPr sz="1250" b="1" i="0">
                <a:solidFill>
                  <a:srgbClr val="2A78D6"/>
                </a:solidFill>
                <a:latin typeface="Segoe UI"/>
              </a:rPr>
              <a:t>▪  </a:t>
            </a:r>
            <a:r>
              <a:rPr sz="1250" b="1" i="0">
                <a:solidFill>
                  <a:srgbClr val="0B0B0B"/>
                </a:solidFill>
                <a:latin typeface="Segoe UI"/>
              </a:rPr>
              <a:t>Risk. </a:t>
            </a:r>
            <a:r>
              <a:rPr sz="1250" b="0" i="0">
                <a:solidFill>
                  <a:srgbClr val="52514E"/>
                </a:solidFill>
                <a:latin typeface="Segoe UI"/>
              </a:rPr>
              <a:t>A naive "more detections = more congestion" system would rank Surat's worst street among its emptiest — confidently, and backwards. Every number would look plausible.</a:t>
            </a:r>
          </a:p>
          <a:p>
            <a:pPr>
              <a:spcAft>
                <a:spcPts val="1100"/>
              </a:spcAft>
            </a:pPr>
            <a:r>
              <a:rPr sz="1250" b="1" i="0">
                <a:solidFill>
                  <a:srgbClr val="2A78D6"/>
                </a:solidFill>
                <a:latin typeface="Segoe UI"/>
              </a:rPr>
              <a:t>▪  </a:t>
            </a:r>
            <a:r>
              <a:rPr sz="1250" b="1" i="0">
                <a:solidFill>
                  <a:srgbClr val="0B0B0B"/>
                </a:solidFill>
                <a:latin typeface="Segoe UI"/>
              </a:rPr>
              <a:t>Fix. </a:t>
            </a:r>
            <a:r>
              <a:rPr sz="1250" b="0" i="0">
                <a:solidFill>
                  <a:srgbClr val="52514E"/>
                </a:solidFill>
                <a:latin typeface="Segoe UI"/>
              </a:rPr>
              <a:t>A texture-based occupancy index (Canny edge density against absolute cross-camera bounds) which has no notion of an object, so occlusion cannot defeat it.</a:t>
            </a:r>
          </a:p>
        </p:txBody>
      </p:sp>
      <p:sp>
        <p:nvSpPr>
          <p:cNvPr id="29" name="Rounded Rectangle 28"/>
          <p:cNvSpPr/>
          <p:nvPr/>
        </p:nvSpPr>
        <p:spPr>
          <a:xfrm>
            <a:off x="658368" y="4709160"/>
            <a:ext cx="10874959" cy="111556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709160"/>
            <a:ext cx="40640" cy="111556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 y="4828032"/>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Result</a:t>
            </a:r>
          </a:p>
        </p:txBody>
      </p:sp>
      <p:sp>
        <p:nvSpPr>
          <p:cNvPr id="32" name="TextBox 31"/>
          <p:cNvSpPr txBox="1"/>
          <p:nvPr/>
        </p:nvSpPr>
        <p:spPr>
          <a:xfrm>
            <a:off x="859536" y="5056632"/>
            <a:ext cx="10472623" cy="67665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Mahidharpura now flags 452 of 453 windows as saturated and ranks correctly as the most congested site. The occupancy index is normalised against absolute bounds measured across all seven cameras, so a value of 0.8 means the same thing on every camera.</a:t>
            </a:r>
          </a:p>
        </p:txBody>
      </p:sp>
      <p:sp>
        <p:nvSpPr>
          <p:cNvPr id="33" name="TextBox 32"/>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4" name="TextBox 33"/>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PROPOSED SOLUTION</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Two controllers, two datasets, one hard boundary</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Surat's junctions run Webster's. Max-pressure is validated on FLUID. Neither borrows from the other.</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10874959" cy="310896"/>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02536"/>
            <a:ext cx="204825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
            </a:r>
          </a:p>
        </p:txBody>
      </p:sp>
      <p:sp>
        <p:nvSpPr>
          <p:cNvPr id="8" name="TextBox 7"/>
          <p:cNvSpPr txBox="1"/>
          <p:nvPr/>
        </p:nvSpPr>
        <p:spPr>
          <a:xfrm>
            <a:off x="2926080" y="2002536"/>
            <a:ext cx="405993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Webster's</a:t>
            </a:r>
          </a:p>
        </p:txBody>
      </p:sp>
      <p:sp>
        <p:nvSpPr>
          <p:cNvPr id="9" name="TextBox 8"/>
          <p:cNvSpPr txBox="1"/>
          <p:nvPr/>
        </p:nvSpPr>
        <p:spPr>
          <a:xfrm>
            <a:off x="7132320" y="2002536"/>
            <a:ext cx="4334256" cy="310896"/>
          </a:xfrm>
          <a:prstGeom prst="rect">
            <a:avLst/>
          </a:prstGeom>
          <a:noFill/>
        </p:spPr>
        <p:txBody>
          <a:bodyPr wrap="square" lIns="0" rIns="0" tIns="0" bIns="0" anchor="ctr">
            <a:spAutoFit/>
          </a:bodyPr>
          <a:lstStyle/>
          <a:p>
            <a:pPr algn="l">
              <a:spcAft>
                <a:spcPts val="0"/>
              </a:spcAft>
            </a:pPr>
            <a:r>
              <a:rPr sz="1030" b="1" i="0">
                <a:solidFill>
                  <a:srgbClr val="898781"/>
                </a:solidFill>
                <a:latin typeface="Segoe UI"/>
              </a:rPr>
              <a:t>Max-pressure (Varaiya 2013)</a:t>
            </a:r>
          </a:p>
        </p:txBody>
      </p:sp>
      <p:sp>
        <p:nvSpPr>
          <p:cNvPr id="10" name="Rectangle 9"/>
          <p:cNvSpPr/>
          <p:nvPr/>
        </p:nvSpPr>
        <p:spPr>
          <a:xfrm>
            <a:off x="658368" y="224942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13432"/>
            <a:ext cx="204825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Needs to observe</a:t>
            </a:r>
          </a:p>
        </p:txBody>
      </p:sp>
      <p:sp>
        <p:nvSpPr>
          <p:cNvPr id="12" name="TextBox 11"/>
          <p:cNvSpPr txBox="1"/>
          <p:nvPr/>
        </p:nvSpPr>
        <p:spPr>
          <a:xfrm>
            <a:off x="2926080" y="2313432"/>
            <a:ext cx="405993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arrival flow per approach</a:t>
            </a:r>
          </a:p>
        </p:txBody>
      </p:sp>
      <p:sp>
        <p:nvSpPr>
          <p:cNvPr id="13" name="TextBox 12"/>
          <p:cNvSpPr txBox="1"/>
          <p:nvPr/>
        </p:nvSpPr>
        <p:spPr>
          <a:xfrm>
            <a:off x="7132320" y="2313432"/>
            <a:ext cx="43342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approach queue AND the queue it discharges into</a:t>
            </a:r>
          </a:p>
        </p:txBody>
      </p:sp>
      <p:sp>
        <p:nvSpPr>
          <p:cNvPr id="14" name="Rectangle 13"/>
          <p:cNvSpPr/>
          <p:nvPr/>
        </p:nvSpPr>
        <p:spPr>
          <a:xfrm>
            <a:off x="658368" y="256032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624328"/>
            <a:ext cx="204825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Cameras required</a:t>
            </a:r>
          </a:p>
        </p:txBody>
      </p:sp>
      <p:sp>
        <p:nvSpPr>
          <p:cNvPr id="16" name="TextBox 15"/>
          <p:cNvSpPr txBox="1"/>
          <p:nvPr/>
        </p:nvSpPr>
        <p:spPr>
          <a:xfrm>
            <a:off x="2926080" y="2624328"/>
            <a:ext cx="405993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one per approach</a:t>
            </a:r>
          </a:p>
        </p:txBody>
      </p:sp>
      <p:sp>
        <p:nvSpPr>
          <p:cNvPr id="17" name="TextBox 16"/>
          <p:cNvSpPr txBox="1"/>
          <p:nvPr/>
        </p:nvSpPr>
        <p:spPr>
          <a:xfrm>
            <a:off x="7132320" y="2624328"/>
            <a:ext cx="43342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one per approach + one per receiving link</a:t>
            </a:r>
          </a:p>
        </p:txBody>
      </p:sp>
      <p:sp>
        <p:nvSpPr>
          <p:cNvPr id="18" name="Rectangle 17"/>
          <p:cNvSpPr/>
          <p:nvPr/>
        </p:nvSpPr>
        <p:spPr>
          <a:xfrm>
            <a:off x="658368" y="287121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35224"/>
            <a:ext cx="204825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Surat CCTV provides</a:t>
            </a:r>
          </a:p>
        </p:txBody>
      </p:sp>
      <p:sp>
        <p:nvSpPr>
          <p:cNvPr id="20" name="TextBox 19"/>
          <p:cNvSpPr txBox="1"/>
          <p:nvPr/>
        </p:nvSpPr>
        <p:spPr>
          <a:xfrm>
            <a:off x="2926080" y="2935224"/>
            <a:ext cx="405993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  exactly this</a:t>
            </a:r>
          </a:p>
        </p:txBody>
      </p:sp>
      <p:sp>
        <p:nvSpPr>
          <p:cNvPr id="21" name="TextBox 20"/>
          <p:cNvSpPr txBox="1"/>
          <p:nvPr/>
        </p:nvSpPr>
        <p:spPr>
          <a:xfrm>
            <a:off x="7132320" y="2935224"/>
            <a:ext cx="43342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  no camera watches a receiving link</a:t>
            </a:r>
          </a:p>
        </p:txBody>
      </p:sp>
      <p:sp>
        <p:nvSpPr>
          <p:cNvPr id="22" name="Rectangle 21"/>
          <p:cNvSpPr/>
          <p:nvPr/>
        </p:nvSpPr>
        <p:spPr>
          <a:xfrm>
            <a:off x="658368" y="3182112"/>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246120"/>
            <a:ext cx="204825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Runs on</a:t>
            </a:r>
          </a:p>
        </p:txBody>
      </p:sp>
      <p:sp>
        <p:nvSpPr>
          <p:cNvPr id="24" name="TextBox 23"/>
          <p:cNvSpPr txBox="1"/>
          <p:nvPr/>
        </p:nvSpPr>
        <p:spPr>
          <a:xfrm>
            <a:off x="2926080" y="3246120"/>
            <a:ext cx="405993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the 7 Surat clips — every operational figure</a:t>
            </a:r>
          </a:p>
        </p:txBody>
      </p:sp>
      <p:sp>
        <p:nvSpPr>
          <p:cNvPr id="25" name="TextBox 24"/>
          <p:cNvSpPr txBox="1"/>
          <p:nvPr/>
        </p:nvSpPr>
        <p:spPr>
          <a:xfrm>
            <a:off x="7132320" y="3246120"/>
            <a:ext cx="43342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FLUID: 14 drone recordings, 3 real intersections</a:t>
            </a:r>
          </a:p>
        </p:txBody>
      </p:sp>
      <p:sp>
        <p:nvSpPr>
          <p:cNvPr id="26" name="Rectangle 25"/>
          <p:cNvSpPr/>
          <p:nvPr/>
        </p:nvSpPr>
        <p:spPr>
          <a:xfrm>
            <a:off x="658368" y="3493008"/>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557016"/>
            <a:ext cx="2048256" cy="310896"/>
          </a:xfrm>
          <a:prstGeom prst="rect">
            <a:avLst/>
          </a:prstGeom>
          <a:noFill/>
        </p:spPr>
        <p:txBody>
          <a:bodyPr wrap="square" lIns="0" rIns="0" tIns="0" bIns="0" anchor="ctr">
            <a:spAutoFit/>
          </a:bodyPr>
          <a:lstStyle/>
          <a:p>
            <a:pPr algn="l">
              <a:spcAft>
                <a:spcPts val="0"/>
              </a:spcAft>
            </a:pPr>
            <a:r>
              <a:rPr sz="1150" b="1" i="0">
                <a:solidFill>
                  <a:srgbClr val="0B0B0B"/>
                </a:solidFill>
                <a:latin typeface="Segoe UI"/>
              </a:rPr>
              <a:t>On Surat it reports</a:t>
            </a:r>
          </a:p>
        </p:txBody>
      </p:sp>
      <p:sp>
        <p:nvSpPr>
          <p:cNvPr id="28" name="TextBox 27"/>
          <p:cNvSpPr txBox="1"/>
          <p:nvPr/>
        </p:nvSpPr>
        <p:spPr>
          <a:xfrm>
            <a:off x="2926080" y="3557016"/>
            <a:ext cx="405993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cycle, splits, delay, saturation</a:t>
            </a:r>
          </a:p>
        </p:txBody>
      </p:sp>
      <p:sp>
        <p:nvSpPr>
          <p:cNvPr id="29" name="TextBox 28"/>
          <p:cNvSpPr txBox="1"/>
          <p:nvPr/>
        </p:nvSpPr>
        <p:spPr>
          <a:xfrm>
            <a:off x="7132320" y="3557016"/>
            <a:ext cx="4334256" cy="310896"/>
          </a:xfrm>
          <a:prstGeom prst="rect">
            <a:avLst/>
          </a:prstGeom>
          <a:noFill/>
        </p:spPr>
        <p:txBody>
          <a:bodyPr wrap="square" lIns="0" rIns="0" tIns="0" bIns="0" anchor="ctr">
            <a:spAutoFit/>
          </a:bodyPr>
          <a:lstStyle/>
          <a:p>
            <a:pPr algn="l">
              <a:spcAft>
                <a:spcPts val="0"/>
              </a:spcAft>
            </a:pPr>
            <a:r>
              <a:rPr sz="1150" b="0" i="0">
                <a:solidFill>
                  <a:srgbClr val="0B0B0B"/>
                </a:solidFill>
                <a:latin typeface="Segoe UI"/>
              </a:rPr>
              <a:t>greedy-queue — and refuses to name a phase</a:t>
            </a:r>
          </a:p>
        </p:txBody>
      </p:sp>
      <p:sp>
        <p:nvSpPr>
          <p:cNvPr id="30" name="Rectangle 29"/>
          <p:cNvSpPr/>
          <p:nvPr/>
        </p:nvSpPr>
        <p:spPr>
          <a:xfrm>
            <a:off x="658368" y="380390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8368" y="4828032"/>
            <a:ext cx="10874959" cy="111556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4828032"/>
            <a:ext cx="40640" cy="11155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946904"/>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Why not just drop the missing term?</a:t>
            </a:r>
          </a:p>
        </p:txBody>
      </p:sp>
      <p:sp>
        <p:nvSpPr>
          <p:cNvPr id="34" name="TextBox 33"/>
          <p:cNvSpPr txBox="1"/>
          <p:nvPr/>
        </p:nvSpPr>
        <p:spPr>
          <a:xfrm>
            <a:off x="859536" y="5175504"/>
            <a:ext cx="10472623" cy="67665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Because that does not give a degraded max-pressure — it gives greedy queue control, which Varaiya's §3.1 Example 2 proves fails to stabilise demands max-pressure handles. So rather than fake it, a dataset containing the missing term was obtained, and the controller is validated there.</a:t>
            </a:r>
          </a:p>
        </p:txBody>
      </p:sp>
      <p:sp>
        <p:nvSpPr>
          <p:cNvPr id="35" name="TextBox 34"/>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6" name="TextBox 35"/>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KEY FEATURES</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One dashboard, two tracks, thirteen views</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ebster-network.png"/>
          <p:cNvPicPr>
            <a:picLocks noChangeAspect="1"/>
          </p:cNvPicPr>
          <p:nvPr/>
        </p:nvPicPr>
        <p:blipFill>
          <a:blip r:embed="rId2"/>
          <a:stretch>
            <a:fillRect/>
          </a:stretch>
        </p:blipFill>
        <p:spPr>
          <a:xfrm>
            <a:off x="658368" y="1572768"/>
            <a:ext cx="6537960" cy="4475389"/>
          </a:xfrm>
          <a:prstGeom prst="rect">
            <a:avLst/>
          </a:prstGeom>
        </p:spPr>
      </p:pic>
      <p:sp>
        <p:nvSpPr>
          <p:cNvPr id="6" name="Rectangle 5"/>
          <p:cNvSpPr/>
          <p:nvPr/>
        </p:nvSpPr>
        <p:spPr>
          <a:xfrm>
            <a:off x="658368" y="1572768"/>
            <a:ext cx="6537960" cy="4475389"/>
          </a:xfrm>
          <a:prstGeom prst="rect">
            <a:avLst/>
          </a:prstGeom>
          <a:no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6368" y="1572768"/>
            <a:ext cx="4206240" cy="274320"/>
          </a:xfrm>
          <a:prstGeom prst="rect">
            <a:avLst/>
          </a:prstGeom>
          <a:noFill/>
        </p:spPr>
        <p:txBody>
          <a:bodyPr wrap="square" lIns="0" rIns="0" tIns="0" bIns="0" anchor="t">
            <a:spAutoFit/>
          </a:bodyPr>
          <a:lstStyle/>
          <a:p>
            <a:pPr algn="l">
              <a:spcAft>
                <a:spcPts val="0"/>
              </a:spcAft>
            </a:pPr>
            <a:r>
              <a:rPr sz="950" b="1" i="0">
                <a:solidFill>
                  <a:srgbClr val="2A78D6"/>
                </a:solidFill>
                <a:latin typeface="Segoe UI"/>
              </a:rPr>
              <a:t>TRACK 1 — WEBSTER'S · SURAT CCTV</a:t>
            </a:r>
          </a:p>
        </p:txBody>
      </p:sp>
      <p:sp>
        <p:nvSpPr>
          <p:cNvPr id="8" name="TextBox 7"/>
          <p:cNvSpPr txBox="1"/>
          <p:nvPr/>
        </p:nvSpPr>
        <p:spPr>
          <a:xfrm>
            <a:off x="7516368" y="1847088"/>
            <a:ext cx="4206240" cy="365760"/>
          </a:xfrm>
          <a:prstGeom prst="rect">
            <a:avLst/>
          </a:prstGeom>
          <a:noFill/>
        </p:spPr>
        <p:txBody>
          <a:bodyPr wrap="square" lIns="0" rIns="0" tIns="0" bIns="0" anchor="t">
            <a:spAutoFit/>
          </a:bodyPr>
          <a:lstStyle/>
          <a:p>
            <a:pPr algn="l">
              <a:spcAft>
                <a:spcPts val="700"/>
              </a:spcAft>
            </a:pPr>
            <a:r>
              <a:rPr sz="1150" b="1" i="0">
                <a:solidFill>
                  <a:srgbClr val="2A78D6"/>
                </a:solidFill>
                <a:latin typeface="Segoe UI"/>
              </a:rPr>
              <a:t>▪  </a:t>
            </a:r>
            <a:r>
              <a:rPr sz="1150" b="0" i="0">
                <a:solidFill>
                  <a:srgbClr val="52514E"/>
                </a:solidFill>
                <a:latin typeface="Segoe UI"/>
              </a:rPr>
              <a:t>Network — LOS bands and congestion ranking</a:t>
            </a:r>
          </a:p>
          <a:p>
            <a:pPr>
              <a:spcAft>
                <a:spcPts val="700"/>
              </a:spcAft>
            </a:pPr>
            <a:r>
              <a:rPr sz="1150" b="1" i="0">
                <a:solidFill>
                  <a:srgbClr val="2A78D6"/>
                </a:solidFill>
                <a:latin typeface="Segoe UI"/>
              </a:rPr>
              <a:t>▪  </a:t>
            </a:r>
            <a:r>
              <a:rPr sz="1150" b="0" i="0">
                <a:solidFill>
                  <a:srgbClr val="52514E"/>
                </a:solidFill>
                <a:latin typeface="Segoe UI"/>
              </a:rPr>
              <a:t>Site detail — zones, overlay, heatmap, trends</a:t>
            </a:r>
          </a:p>
          <a:p>
            <a:pPr>
              <a:spcAft>
                <a:spcPts val="700"/>
              </a:spcAft>
            </a:pPr>
            <a:r>
              <a:rPr sz="1150" b="1" i="0">
                <a:solidFill>
                  <a:srgbClr val="2A78D6"/>
                </a:solidFill>
                <a:latin typeface="Segoe UI"/>
              </a:rPr>
              <a:t>▪  </a:t>
            </a:r>
            <a:r>
              <a:rPr sz="1150" b="0" i="0">
                <a:solidFill>
                  <a:srgbClr val="52514E"/>
                </a:solidFill>
                <a:latin typeface="Segoe UI"/>
              </a:rPr>
              <a:t>Signal timing — cycle, splits, delay, saturation</a:t>
            </a:r>
          </a:p>
          <a:p>
            <a:pPr>
              <a:spcAft>
                <a:spcPts val="700"/>
              </a:spcAft>
            </a:pPr>
            <a:r>
              <a:rPr sz="1150" b="1" i="0">
                <a:solidFill>
                  <a:srgbClr val="2A78D6"/>
                </a:solidFill>
                <a:latin typeface="Segoe UI"/>
              </a:rPr>
              <a:t>▪  </a:t>
            </a:r>
            <a:r>
              <a:rPr sz="1150" b="0" i="0">
                <a:solidFill>
                  <a:srgbClr val="52514E"/>
                </a:solidFill>
                <a:latin typeface="Segoe UI"/>
              </a:rPr>
              <a:t>Bottlenecks — every alert with its evidence</a:t>
            </a:r>
          </a:p>
          <a:p>
            <a:pPr>
              <a:spcAft>
                <a:spcPts val="700"/>
              </a:spcAft>
            </a:pPr>
            <a:r>
              <a:rPr sz="1150" b="1" i="0">
                <a:solidFill>
                  <a:srgbClr val="2A78D6"/>
                </a:solidFill>
                <a:latin typeface="Segoe UI"/>
              </a:rPr>
              <a:t>▪  </a:t>
            </a:r>
            <a:r>
              <a:rPr sz="1150" b="0" i="0">
                <a:solidFill>
                  <a:srgbClr val="52514E"/>
                </a:solidFill>
                <a:latin typeface="Segoe UI"/>
              </a:rPr>
              <a:t>Outlook — forecasts with prediction bands</a:t>
            </a:r>
          </a:p>
          <a:p>
            <a:pPr>
              <a:spcAft>
                <a:spcPts val="700"/>
              </a:spcAft>
            </a:pPr>
            <a:r>
              <a:rPr sz="1150" b="1" i="0">
                <a:solidFill>
                  <a:srgbClr val="2A78D6"/>
                </a:solidFill>
                <a:latin typeface="Segoe UI"/>
              </a:rPr>
              <a:t>▪  </a:t>
            </a:r>
            <a:r>
              <a:rPr sz="1150" b="0" i="0">
                <a:solidFill>
                  <a:srgbClr val="52514E"/>
                </a:solidFill>
                <a:latin typeface="Segoe UI"/>
              </a:rPr>
              <a:t>Analyse footage · Calibration · How it works</a:t>
            </a:r>
          </a:p>
        </p:txBody>
      </p:sp>
      <p:sp>
        <p:nvSpPr>
          <p:cNvPr id="9" name="TextBox 8"/>
          <p:cNvSpPr txBox="1"/>
          <p:nvPr/>
        </p:nvSpPr>
        <p:spPr>
          <a:xfrm>
            <a:off x="7516368" y="3995928"/>
            <a:ext cx="4206240" cy="274320"/>
          </a:xfrm>
          <a:prstGeom prst="rect">
            <a:avLst/>
          </a:prstGeom>
          <a:noFill/>
        </p:spPr>
        <p:txBody>
          <a:bodyPr wrap="square" lIns="0" rIns="0" tIns="0" bIns="0" anchor="t">
            <a:spAutoFit/>
          </a:bodyPr>
          <a:lstStyle/>
          <a:p>
            <a:pPr algn="l">
              <a:spcAft>
                <a:spcPts val="0"/>
              </a:spcAft>
            </a:pPr>
            <a:r>
              <a:rPr sz="950" b="1" i="0">
                <a:solidFill>
                  <a:srgbClr val="EB6834"/>
                </a:solidFill>
                <a:latin typeface="Segoe UI"/>
              </a:rPr>
              <a:t>TRACK 2 — MAX-PRESSURE · FLUID DRONE</a:t>
            </a:r>
          </a:p>
        </p:txBody>
      </p:sp>
      <p:sp>
        <p:nvSpPr>
          <p:cNvPr id="10" name="TextBox 9"/>
          <p:cNvSpPr txBox="1"/>
          <p:nvPr/>
        </p:nvSpPr>
        <p:spPr>
          <a:xfrm>
            <a:off x="7516368" y="4270248"/>
            <a:ext cx="4206240" cy="365760"/>
          </a:xfrm>
          <a:prstGeom prst="rect">
            <a:avLst/>
          </a:prstGeom>
          <a:noFill/>
        </p:spPr>
        <p:txBody>
          <a:bodyPr wrap="square" lIns="0" rIns="0" tIns="0" bIns="0" anchor="t">
            <a:spAutoFit/>
          </a:bodyPr>
          <a:lstStyle/>
          <a:p>
            <a:pPr algn="l">
              <a:spcAft>
                <a:spcPts val="700"/>
              </a:spcAft>
            </a:pPr>
            <a:r>
              <a:rPr sz="1150" b="1" i="0">
                <a:solidFill>
                  <a:srgbClr val="EB6834"/>
                </a:solidFill>
                <a:latin typeface="Segoe UI"/>
              </a:rPr>
              <a:t>▪  </a:t>
            </a:r>
            <a:r>
              <a:rPr sz="1150" b="0" i="0">
                <a:solidFill>
                  <a:srgbClr val="52514E"/>
                </a:solidFill>
                <a:latin typeface="Segoe UI"/>
              </a:rPr>
              <a:t>Validation — replayed against 3 real signals</a:t>
            </a:r>
          </a:p>
          <a:p>
            <a:pPr>
              <a:spcAft>
                <a:spcPts val="700"/>
              </a:spcAft>
            </a:pPr>
            <a:r>
              <a:rPr sz="1150" b="1" i="0">
                <a:solidFill>
                  <a:srgbClr val="EB6834"/>
                </a:solidFill>
                <a:latin typeface="Segoe UI"/>
              </a:rPr>
              <a:t>▪  </a:t>
            </a:r>
            <a:r>
              <a:rPr sz="1150" b="0" i="0">
                <a:solidFill>
                  <a:srgbClr val="52514E"/>
                </a:solidFill>
                <a:latin typeface="Segoe UI"/>
              </a:rPr>
              <a:t>Scene — aerial with live queue shading</a:t>
            </a:r>
          </a:p>
          <a:p>
            <a:pPr>
              <a:spcAft>
                <a:spcPts val="700"/>
              </a:spcAft>
            </a:pPr>
            <a:r>
              <a:rPr sz="1150" b="1" i="0">
                <a:solidFill>
                  <a:srgbClr val="EB6834"/>
                </a:solidFill>
                <a:latin typeface="Segoe UI"/>
              </a:rPr>
              <a:t>▪  </a:t>
            </a:r>
            <a:r>
              <a:rPr sz="1150" b="0" i="0">
                <a:solidFill>
                  <a:srgbClr val="52514E"/>
                </a:solidFill>
                <a:latin typeface="Segoe UI"/>
              </a:rPr>
              <a:t>Phase pressure — every movement's terms</a:t>
            </a:r>
          </a:p>
          <a:p>
            <a:pPr>
              <a:spcAft>
                <a:spcPts val="700"/>
              </a:spcAft>
            </a:pPr>
            <a:r>
              <a:rPr sz="1150" b="1" i="0">
                <a:solidFill>
                  <a:srgbClr val="EB6834"/>
                </a:solidFill>
                <a:latin typeface="Segoe UI"/>
              </a:rPr>
              <a:t>▪  </a:t>
            </a:r>
            <a:r>
              <a:rPr sz="1150" b="0" i="0">
                <a:solidFill>
                  <a:srgbClr val="52514E"/>
                </a:solidFill>
                <a:latin typeface="Segoe UI"/>
              </a:rPr>
              <a:t>Head-to-head — 3 demand regimes simulated</a:t>
            </a:r>
          </a:p>
          <a:p>
            <a:pPr>
              <a:spcAft>
                <a:spcPts val="700"/>
              </a:spcAft>
            </a:pPr>
            <a:r>
              <a:rPr sz="1150" b="1" i="0">
                <a:solidFill>
                  <a:srgbClr val="EB6834"/>
                </a:solidFill>
                <a:latin typeface="Segoe UI"/>
              </a:rPr>
              <a:t>▪  </a:t>
            </a:r>
            <a:r>
              <a:rPr sz="1150" b="0" i="0">
                <a:solidFill>
                  <a:srgbClr val="52514E"/>
                </a:solidFill>
                <a:latin typeface="Segoe UI"/>
              </a:rPr>
              <a:t>Method — what the data can and cannot say</a:t>
            </a:r>
          </a:p>
        </p:txBody>
      </p:sp>
      <p:sp>
        <p:nvSpPr>
          <p:cNvPr id="11" name="TextBox 10"/>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12" name="TextBox 11"/>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TECHNOLOGY STACK</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Chosen for what the data needs</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572768"/>
            <a:ext cx="10874959" cy="324612"/>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36776"/>
            <a:ext cx="1865376" cy="324612"/>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Layer</a:t>
            </a:r>
          </a:p>
        </p:txBody>
      </p:sp>
      <p:sp>
        <p:nvSpPr>
          <p:cNvPr id="7" name="TextBox 6"/>
          <p:cNvSpPr txBox="1"/>
          <p:nvPr/>
        </p:nvSpPr>
        <p:spPr>
          <a:xfrm>
            <a:off x="2743200" y="1636776"/>
            <a:ext cx="3054096" cy="324612"/>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Choice</a:t>
            </a:r>
          </a:p>
        </p:txBody>
      </p:sp>
      <p:sp>
        <p:nvSpPr>
          <p:cNvPr id="8" name="TextBox 7"/>
          <p:cNvSpPr txBox="1"/>
          <p:nvPr/>
        </p:nvSpPr>
        <p:spPr>
          <a:xfrm>
            <a:off x="5943600" y="1636776"/>
            <a:ext cx="5513832" cy="324612"/>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Why this one</a:t>
            </a:r>
          </a:p>
        </p:txBody>
      </p:sp>
      <p:sp>
        <p:nvSpPr>
          <p:cNvPr id="9" name="Rectangle 8"/>
          <p:cNvSpPr/>
          <p:nvPr/>
        </p:nvSpPr>
        <p:spPr>
          <a:xfrm>
            <a:off x="658368" y="189738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61388"/>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Detector</a:t>
            </a:r>
          </a:p>
        </p:txBody>
      </p:sp>
      <p:sp>
        <p:nvSpPr>
          <p:cNvPr id="11" name="TextBox 10"/>
          <p:cNvSpPr txBox="1"/>
          <p:nvPr/>
        </p:nvSpPr>
        <p:spPr>
          <a:xfrm>
            <a:off x="2743200" y="1961388"/>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YOLO11-S</a:t>
            </a:r>
          </a:p>
        </p:txBody>
      </p:sp>
      <p:sp>
        <p:nvSpPr>
          <p:cNvPr id="12" name="TextBox 11"/>
          <p:cNvSpPr txBox="1"/>
          <p:nvPr/>
        </p:nvSpPr>
        <p:spPr>
          <a:xfrm>
            <a:off x="5943600" y="1961388"/>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Better on small, distant, partly occluded vehicles</a:t>
            </a:r>
          </a:p>
        </p:txBody>
      </p:sp>
      <p:sp>
        <p:nvSpPr>
          <p:cNvPr id="13" name="Rectangle 12"/>
          <p:cNvSpPr/>
          <p:nvPr/>
        </p:nvSpPr>
        <p:spPr>
          <a:xfrm>
            <a:off x="658368" y="2221992"/>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286000"/>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Weights</a:t>
            </a:r>
          </a:p>
        </p:txBody>
      </p:sp>
      <p:sp>
        <p:nvSpPr>
          <p:cNvPr id="15" name="TextBox 14"/>
          <p:cNvSpPr txBox="1"/>
          <p:nvPr/>
        </p:nvSpPr>
        <p:spPr>
          <a:xfrm>
            <a:off x="2743200" y="2286000"/>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UVH-26 fine-tune</a:t>
            </a:r>
          </a:p>
        </p:txBody>
      </p:sp>
      <p:sp>
        <p:nvSpPr>
          <p:cNvPr id="16" name="TextBox 15"/>
          <p:cNvSpPr txBox="1"/>
          <p:nvPr/>
        </p:nvSpPr>
        <p:spPr>
          <a:xfrm>
            <a:off x="5943600" y="2286000"/>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Indian CCTV domain; 14 classes incl. auto-rickshaw</a:t>
            </a:r>
          </a:p>
        </p:txBody>
      </p:sp>
      <p:sp>
        <p:nvSpPr>
          <p:cNvPr id="17" name="Rectangle 16"/>
          <p:cNvSpPr/>
          <p:nvPr/>
        </p:nvSpPr>
        <p:spPr>
          <a:xfrm>
            <a:off x="658368" y="254660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610612"/>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Tracker</a:t>
            </a:r>
          </a:p>
        </p:txBody>
      </p:sp>
      <p:sp>
        <p:nvSpPr>
          <p:cNvPr id="19" name="TextBox 18"/>
          <p:cNvSpPr txBox="1"/>
          <p:nvPr/>
        </p:nvSpPr>
        <p:spPr>
          <a:xfrm>
            <a:off x="2743200" y="2610612"/>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ByteTrack</a:t>
            </a:r>
          </a:p>
        </p:txBody>
      </p:sp>
      <p:sp>
        <p:nvSpPr>
          <p:cNvPr id="20" name="TextBox 19"/>
          <p:cNvSpPr txBox="1"/>
          <p:nvPr/>
        </p:nvSpPr>
        <p:spPr>
          <a:xfrm>
            <a:off x="5943600" y="2610612"/>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Associates low-confidence detections in crowds</a:t>
            </a:r>
          </a:p>
        </p:txBody>
      </p:sp>
      <p:sp>
        <p:nvSpPr>
          <p:cNvPr id="21" name="Rectangle 20"/>
          <p:cNvSpPr/>
          <p:nvPr/>
        </p:nvSpPr>
        <p:spPr>
          <a:xfrm>
            <a:off x="658368" y="287121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935224"/>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Density unit</a:t>
            </a:r>
          </a:p>
        </p:txBody>
      </p:sp>
      <p:sp>
        <p:nvSpPr>
          <p:cNvPr id="23" name="TextBox 22"/>
          <p:cNvSpPr txBox="1"/>
          <p:nvPr/>
        </p:nvSpPr>
        <p:spPr>
          <a:xfrm>
            <a:off x="2743200" y="2935224"/>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PCU · IRC:106-1990</a:t>
            </a:r>
          </a:p>
        </p:txBody>
      </p:sp>
      <p:sp>
        <p:nvSpPr>
          <p:cNvPr id="24" name="TextBox 23"/>
          <p:cNvSpPr txBox="1"/>
          <p:nvPr/>
        </p:nvSpPr>
        <p:spPr>
          <a:xfrm>
            <a:off x="5943600" y="2935224"/>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The unit Indian capacity standards are defined in</a:t>
            </a:r>
          </a:p>
        </p:txBody>
      </p:sp>
      <p:sp>
        <p:nvSpPr>
          <p:cNvPr id="25" name="Rectangle 24"/>
          <p:cNvSpPr/>
          <p:nvPr/>
        </p:nvSpPr>
        <p:spPr>
          <a:xfrm>
            <a:off x="658368" y="3195828"/>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259836"/>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Signal method</a:t>
            </a:r>
          </a:p>
        </p:txBody>
      </p:sp>
      <p:sp>
        <p:nvSpPr>
          <p:cNvPr id="27" name="TextBox 26"/>
          <p:cNvSpPr txBox="1"/>
          <p:nvPr/>
        </p:nvSpPr>
        <p:spPr>
          <a:xfrm>
            <a:off x="2743200" y="3259836"/>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Webster's + HCM delay</a:t>
            </a:r>
          </a:p>
        </p:txBody>
      </p:sp>
      <p:sp>
        <p:nvSpPr>
          <p:cNvPr id="28" name="TextBox 27"/>
          <p:cNvSpPr txBox="1"/>
          <p:nvPr/>
        </p:nvSpPr>
        <p:spPr>
          <a:xfrm>
            <a:off x="5943600" y="3259836"/>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Needs only what one camera per approach sees</a:t>
            </a:r>
          </a:p>
        </p:txBody>
      </p:sp>
      <p:sp>
        <p:nvSpPr>
          <p:cNvPr id="29" name="Rectangle 28"/>
          <p:cNvSpPr/>
          <p:nvPr/>
        </p:nvSpPr>
        <p:spPr>
          <a:xfrm>
            <a:off x="658368" y="352044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584448"/>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2nd controller</a:t>
            </a:r>
          </a:p>
        </p:txBody>
      </p:sp>
      <p:sp>
        <p:nvSpPr>
          <p:cNvPr id="31" name="TextBox 30"/>
          <p:cNvSpPr txBox="1"/>
          <p:nvPr/>
        </p:nvSpPr>
        <p:spPr>
          <a:xfrm>
            <a:off x="2743200" y="3584448"/>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Max-pressure (Varaiya)</a:t>
            </a:r>
          </a:p>
        </p:txBody>
      </p:sp>
      <p:sp>
        <p:nvSpPr>
          <p:cNvPr id="32" name="TextBox 31"/>
          <p:cNvSpPr txBox="1"/>
          <p:nvPr/>
        </p:nvSpPr>
        <p:spPr>
          <a:xfrm>
            <a:off x="5943600" y="3584448"/>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Throughput-optimal — gated on observability</a:t>
            </a:r>
          </a:p>
        </p:txBody>
      </p:sp>
      <p:sp>
        <p:nvSpPr>
          <p:cNvPr id="33" name="Rectangle 32"/>
          <p:cNvSpPr/>
          <p:nvPr/>
        </p:nvSpPr>
        <p:spPr>
          <a:xfrm>
            <a:off x="658368" y="3845052"/>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909060"/>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Saturation flow</a:t>
            </a:r>
          </a:p>
        </p:txBody>
      </p:sp>
      <p:sp>
        <p:nvSpPr>
          <p:cNvPr id="35" name="TextBox 34"/>
          <p:cNvSpPr txBox="1"/>
          <p:nvPr/>
        </p:nvSpPr>
        <p:spPr>
          <a:xfrm>
            <a:off x="2743200" y="3909060"/>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IRC:SP:41-1994, S = 525·W</a:t>
            </a:r>
          </a:p>
        </p:txBody>
      </p:sp>
      <p:sp>
        <p:nvSpPr>
          <p:cNvPr id="36" name="TextBox 35"/>
          <p:cNvSpPr txBox="1"/>
          <p:nvPr/>
        </p:nvSpPr>
        <p:spPr>
          <a:xfrm>
            <a:off x="5943600" y="3909060"/>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Width-based; lane count is unrecoverable here</a:t>
            </a:r>
          </a:p>
        </p:txBody>
      </p:sp>
      <p:sp>
        <p:nvSpPr>
          <p:cNvPr id="37" name="Rectangle 36"/>
          <p:cNvSpPr/>
          <p:nvPr/>
        </p:nvSpPr>
        <p:spPr>
          <a:xfrm>
            <a:off x="658368" y="416966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233672"/>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Occupancy</a:t>
            </a:r>
          </a:p>
        </p:txBody>
      </p:sp>
      <p:sp>
        <p:nvSpPr>
          <p:cNvPr id="39" name="TextBox 38"/>
          <p:cNvSpPr txBox="1"/>
          <p:nvPr/>
        </p:nvSpPr>
        <p:spPr>
          <a:xfrm>
            <a:off x="2743200" y="4233672"/>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Canny edge density</a:t>
            </a:r>
          </a:p>
        </p:txBody>
      </p:sp>
      <p:sp>
        <p:nvSpPr>
          <p:cNvPr id="40" name="TextBox 39"/>
          <p:cNvSpPr txBox="1"/>
          <p:nvPr/>
        </p:nvSpPr>
        <p:spPr>
          <a:xfrm>
            <a:off x="5943600" y="4233672"/>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No object resolution needed — survives saturation</a:t>
            </a:r>
          </a:p>
        </p:txBody>
      </p:sp>
      <p:sp>
        <p:nvSpPr>
          <p:cNvPr id="41" name="Rectangle 40"/>
          <p:cNvSpPr/>
          <p:nvPr/>
        </p:nvSpPr>
        <p:spPr>
          <a:xfrm>
            <a:off x="658368" y="449427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4558284"/>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Dashboard</a:t>
            </a:r>
          </a:p>
        </p:txBody>
      </p:sp>
      <p:sp>
        <p:nvSpPr>
          <p:cNvPr id="43" name="TextBox 42"/>
          <p:cNvSpPr txBox="1"/>
          <p:nvPr/>
        </p:nvSpPr>
        <p:spPr>
          <a:xfrm>
            <a:off x="2743200" y="4558284"/>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Streamlit + Plotly</a:t>
            </a:r>
          </a:p>
        </p:txBody>
      </p:sp>
      <p:sp>
        <p:nvSpPr>
          <p:cNvPr id="44" name="TextBox 43"/>
          <p:cNvSpPr txBox="1"/>
          <p:nvPr/>
        </p:nvSpPr>
        <p:spPr>
          <a:xfrm>
            <a:off x="5943600" y="4558284"/>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Operator view without a JS build step</a:t>
            </a:r>
          </a:p>
        </p:txBody>
      </p:sp>
      <p:sp>
        <p:nvSpPr>
          <p:cNvPr id="45" name="Rectangle 44"/>
          <p:cNvSpPr/>
          <p:nvPr/>
        </p:nvSpPr>
        <p:spPr>
          <a:xfrm>
            <a:off x="658368" y="4818888"/>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882896"/>
            <a:ext cx="1865376" cy="324612"/>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Language</a:t>
            </a:r>
          </a:p>
        </p:txBody>
      </p:sp>
      <p:sp>
        <p:nvSpPr>
          <p:cNvPr id="47" name="TextBox 46"/>
          <p:cNvSpPr txBox="1"/>
          <p:nvPr/>
        </p:nvSpPr>
        <p:spPr>
          <a:xfrm>
            <a:off x="2743200" y="4882896"/>
            <a:ext cx="3054096"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Python 3.11 · PyTorch 2.5 · OpenCV</a:t>
            </a:r>
          </a:p>
        </p:txBody>
      </p:sp>
      <p:sp>
        <p:nvSpPr>
          <p:cNvPr id="48" name="TextBox 47"/>
          <p:cNvSpPr txBox="1"/>
          <p:nvPr/>
        </p:nvSpPr>
        <p:spPr>
          <a:xfrm>
            <a:off x="5943600" y="4882896"/>
            <a:ext cx="5513832" cy="324612"/>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GPU-accelerated, standard</a:t>
            </a:r>
          </a:p>
        </p:txBody>
      </p:sp>
      <p:sp>
        <p:nvSpPr>
          <p:cNvPr id="49" name="Rectangle 48"/>
          <p:cNvSpPr/>
          <p:nvPr/>
        </p:nvSpPr>
        <p:spPr>
          <a:xfrm>
            <a:off x="658368" y="514350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 y="5623560"/>
            <a:ext cx="10874959" cy="365760"/>
          </a:xfrm>
          <a:prstGeom prst="rect">
            <a:avLst/>
          </a:prstGeom>
          <a:noFill/>
        </p:spPr>
        <p:txBody>
          <a:bodyPr wrap="square" lIns="0" rIns="0" tIns="0" bIns="0" anchor="t">
            <a:spAutoFit/>
          </a:bodyPr>
          <a:lstStyle/>
          <a:p>
            <a:pPr algn="l">
              <a:spcAft>
                <a:spcPts val="0"/>
              </a:spcAft>
            </a:pPr>
            <a:r>
              <a:rPr sz="1100" b="1" i="0">
                <a:solidFill>
                  <a:srgbClr val="0B0B0B"/>
                </a:solidFill>
                <a:latin typeface="Segoe UI"/>
              </a:rPr>
              <a:t>Hardware: </a:t>
            </a:r>
            <a:r>
              <a:rPr sz="1100" b="0" i="0">
                <a:solidFill>
                  <a:srgbClr val="52514E"/>
                </a:solidFill>
                <a:latin typeface="Segoe UI"/>
              </a:rPr>
              <a:t>NVIDIA RTX 3050 6 GB laptop GPU. No cloud training was needed — the UVH-26 weights removed the training step entirely.</a:t>
            </a:r>
          </a:p>
        </p:txBody>
      </p:sp>
      <p:sp>
        <p:nvSpPr>
          <p:cNvPr id="51" name="TextBox 50"/>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52" name="TextBox 51"/>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SYSTEM ARCHITECTURE DIAGRAM</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From video frame to signal recommendation</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72768"/>
            <a:ext cx="2212848" cy="786384"/>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2212848"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700784"/>
            <a:ext cx="1956816" cy="548640"/>
          </a:xfrm>
          <a:prstGeom prst="rect">
            <a:avLst/>
          </a:prstGeom>
          <a:noFill/>
        </p:spPr>
        <p:txBody>
          <a:bodyPr wrap="square" lIns="0" rIns="0" tIns="0" bIns="0" anchor="t">
            <a:spAutoFit/>
          </a:bodyPr>
          <a:lstStyle/>
          <a:p>
            <a:pPr algn="l">
              <a:spcAft>
                <a:spcPts val="0"/>
              </a:spcAft>
            </a:pPr>
            <a:r>
              <a:rPr sz="1100" b="1" i="0">
                <a:solidFill>
                  <a:srgbClr val="0B0B0B"/>
                </a:solidFill>
                <a:latin typeface="Segoe UI"/>
              </a:rPr>
              <a:t>1  DETECT + TRACK
</a:t>
            </a:r>
            <a:r>
              <a:rPr sz="900" b="1" i="0">
                <a:solidFill>
                  <a:srgbClr val="2A78D6"/>
                </a:solidFill>
                <a:latin typeface="Segoe UI"/>
              </a:rPr>
              <a:t>detector.py
</a:t>
            </a:r>
            <a:r>
              <a:rPr sz="900" b="0" i="0">
                <a:solidFill>
                  <a:srgbClr val="52514E"/>
                </a:solidFill>
                <a:latin typeface="Segoe UI"/>
              </a:rPr>
              <a:t>YOLO11-S · ByteTrack</a:t>
            </a:r>
          </a:p>
        </p:txBody>
      </p:sp>
      <p:sp>
        <p:nvSpPr>
          <p:cNvPr id="8" name="Rounded Rectangle 7"/>
          <p:cNvSpPr/>
          <p:nvPr/>
        </p:nvSpPr>
        <p:spPr>
          <a:xfrm>
            <a:off x="3127248" y="1572768"/>
            <a:ext cx="2212848" cy="786384"/>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27248" y="1572768"/>
            <a:ext cx="2212848"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55264" y="1700784"/>
            <a:ext cx="1956816" cy="548640"/>
          </a:xfrm>
          <a:prstGeom prst="rect">
            <a:avLst/>
          </a:prstGeom>
          <a:noFill/>
        </p:spPr>
        <p:txBody>
          <a:bodyPr wrap="square" lIns="0" rIns="0" tIns="0" bIns="0" anchor="t">
            <a:spAutoFit/>
          </a:bodyPr>
          <a:lstStyle/>
          <a:p>
            <a:pPr algn="l">
              <a:spcAft>
                <a:spcPts val="0"/>
              </a:spcAft>
            </a:pPr>
            <a:r>
              <a:rPr sz="1100" b="1" i="0">
                <a:solidFill>
                  <a:srgbClr val="0B0B0B"/>
                </a:solidFill>
                <a:latin typeface="Segoe UI"/>
              </a:rPr>
              <a:t>2  LOCATE
</a:t>
            </a:r>
            <a:r>
              <a:rPr sz="900" b="1" i="0">
                <a:solidFill>
                  <a:srgbClr val="2A78D6"/>
                </a:solidFill>
                <a:latin typeface="Segoe UI"/>
              </a:rPr>
              <a:t>zones.py
</a:t>
            </a:r>
            <a:r>
              <a:rPr sz="900" b="0" i="0">
                <a:solidFill>
                  <a:srgbClr val="52514E"/>
                </a:solidFill>
                <a:latin typeface="Segoe UI"/>
              </a:rPr>
              <a:t>lane / zone polygons</a:t>
            </a:r>
          </a:p>
        </p:txBody>
      </p:sp>
      <p:sp>
        <p:nvSpPr>
          <p:cNvPr id="11" name="Rounded Rectangle 10"/>
          <p:cNvSpPr/>
          <p:nvPr/>
        </p:nvSpPr>
        <p:spPr>
          <a:xfrm>
            <a:off x="5596128" y="1572768"/>
            <a:ext cx="2212848" cy="786384"/>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96128" y="1572768"/>
            <a:ext cx="2212848"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24144" y="1700784"/>
            <a:ext cx="1956816" cy="548640"/>
          </a:xfrm>
          <a:prstGeom prst="rect">
            <a:avLst/>
          </a:prstGeom>
          <a:noFill/>
        </p:spPr>
        <p:txBody>
          <a:bodyPr wrap="square" lIns="0" rIns="0" tIns="0" bIns="0" anchor="t">
            <a:spAutoFit/>
          </a:bodyPr>
          <a:lstStyle/>
          <a:p>
            <a:pPr algn="l">
              <a:spcAft>
                <a:spcPts val="0"/>
              </a:spcAft>
            </a:pPr>
            <a:r>
              <a:rPr sz="1100" b="1" i="0">
                <a:solidFill>
                  <a:srgbClr val="0B0B0B"/>
                </a:solidFill>
                <a:latin typeface="Segoe UI"/>
              </a:rPr>
              <a:t>3  MEASURE
</a:t>
            </a:r>
            <a:r>
              <a:rPr sz="900" b="1" i="0">
                <a:solidFill>
                  <a:srgbClr val="EB6834"/>
                </a:solidFill>
                <a:latin typeface="Segoe UI"/>
              </a:rPr>
              <a:t>metrics.py
</a:t>
            </a:r>
            <a:r>
              <a:rPr sz="900" b="0" i="0">
                <a:solidFill>
                  <a:srgbClr val="52514E"/>
                </a:solidFill>
                <a:latin typeface="Segoe UI"/>
              </a:rPr>
              <a:t>two parallel paths</a:t>
            </a:r>
          </a:p>
        </p:txBody>
      </p:sp>
      <p:sp>
        <p:nvSpPr>
          <p:cNvPr id="14" name="Rounded Rectangle 13"/>
          <p:cNvSpPr/>
          <p:nvPr/>
        </p:nvSpPr>
        <p:spPr>
          <a:xfrm>
            <a:off x="658368" y="2670048"/>
            <a:ext cx="3429000" cy="658368"/>
          </a:xfrm>
          <a:prstGeom prst="roundRect">
            <a:avLst>
              <a:gd name="adj" fmla="val 4000"/>
            </a:avLst>
          </a:prstGeom>
          <a:solidFill>
            <a:srgbClr val="F0EFEC"/>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788920"/>
            <a:ext cx="3200400" cy="457200"/>
          </a:xfrm>
          <a:prstGeom prst="rect">
            <a:avLst/>
          </a:prstGeom>
          <a:noFill/>
        </p:spPr>
        <p:txBody>
          <a:bodyPr wrap="square" lIns="0" rIns="0" tIns="0" bIns="0" anchor="t">
            <a:spAutoFit/>
          </a:bodyPr>
          <a:lstStyle/>
          <a:p>
            <a:pPr algn="l">
              <a:spcAft>
                <a:spcPts val="0"/>
              </a:spcAft>
            </a:pPr>
            <a:r>
              <a:rPr sz="1000" b="1" i="0">
                <a:solidFill>
                  <a:srgbClr val="2A78D6"/>
                </a:solidFill>
                <a:latin typeface="Segoe UI"/>
              </a:rPr>
              <a:t>DETECTION PATH
</a:t>
            </a:r>
            <a:r>
              <a:rPr sz="950" b="0" i="0">
                <a:solidFill>
                  <a:srgbClr val="52514E"/>
                </a:solidFill>
                <a:latin typeface="Segoe UI"/>
              </a:rPr>
              <a:t>PCU density, speed, queue, flow (q = k·v)</a:t>
            </a:r>
          </a:p>
        </p:txBody>
      </p:sp>
      <p:sp>
        <p:nvSpPr>
          <p:cNvPr id="16" name="Rounded Rectangle 15"/>
          <p:cNvSpPr/>
          <p:nvPr/>
        </p:nvSpPr>
        <p:spPr>
          <a:xfrm>
            <a:off x="4343400" y="2670048"/>
            <a:ext cx="3429000" cy="658368"/>
          </a:xfrm>
          <a:prstGeom prst="roundRect">
            <a:avLst>
              <a:gd name="adj" fmla="val 4000"/>
            </a:avLst>
          </a:prstGeom>
          <a:solidFill>
            <a:srgbClr val="F0EFEC"/>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788920"/>
            <a:ext cx="3200400" cy="457200"/>
          </a:xfrm>
          <a:prstGeom prst="rect">
            <a:avLst/>
          </a:prstGeom>
          <a:noFill/>
        </p:spPr>
        <p:txBody>
          <a:bodyPr wrap="square" lIns="0" rIns="0" tIns="0" bIns="0" anchor="t">
            <a:spAutoFit/>
          </a:bodyPr>
          <a:lstStyle/>
          <a:p>
            <a:pPr algn="l">
              <a:spcAft>
                <a:spcPts val="0"/>
              </a:spcAft>
            </a:pPr>
            <a:r>
              <a:rPr sz="1000" b="1" i="0">
                <a:solidFill>
                  <a:srgbClr val="EB6834"/>
                </a:solidFill>
                <a:latin typeface="Segoe UI"/>
              </a:rPr>
              <a:t>OCCUPANCY PATH
</a:t>
            </a:r>
            <a:r>
              <a:rPr sz="950" b="0" i="0">
                <a:solidFill>
                  <a:srgbClr val="52514E"/>
                </a:solidFill>
                <a:latin typeface="Segoe UI"/>
              </a:rPr>
              <a:t>texture-based index — survives saturation</a:t>
            </a:r>
          </a:p>
        </p:txBody>
      </p:sp>
      <p:sp>
        <p:nvSpPr>
          <p:cNvPr id="18" name="Rounded Rectangle 17"/>
          <p:cNvSpPr/>
          <p:nvPr/>
        </p:nvSpPr>
        <p:spPr>
          <a:xfrm>
            <a:off x="658368" y="3639312"/>
            <a:ext cx="2212848" cy="713232"/>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39312"/>
            <a:ext cx="38100" cy="713232"/>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767328"/>
            <a:ext cx="1938528" cy="457200"/>
          </a:xfrm>
          <a:prstGeom prst="rect">
            <a:avLst/>
          </a:prstGeom>
          <a:noFill/>
        </p:spPr>
        <p:txBody>
          <a:bodyPr wrap="square" lIns="0" rIns="0" tIns="0" bIns="0" anchor="t">
            <a:spAutoFit/>
          </a:bodyPr>
          <a:lstStyle/>
          <a:p>
            <a:pPr algn="l">
              <a:spcAft>
                <a:spcPts val="0"/>
              </a:spcAft>
            </a:pPr>
            <a:r>
              <a:rPr sz="1050" b="1" i="0">
                <a:solidFill>
                  <a:srgbClr val="0B0B0B"/>
                </a:solidFill>
                <a:latin typeface="Segoe UI"/>
              </a:rPr>
              <a:t>4  OPTIMISE
</a:t>
            </a:r>
            <a:r>
              <a:rPr sz="900" b="0" i="0">
                <a:solidFill>
                  <a:srgbClr val="52514E"/>
                </a:solidFill>
                <a:latin typeface="Segoe UI"/>
              </a:rPr>
              <a:t>signal_opt.py · maxpressure.py</a:t>
            </a:r>
          </a:p>
        </p:txBody>
      </p:sp>
      <p:sp>
        <p:nvSpPr>
          <p:cNvPr id="21" name="Rounded Rectangle 20"/>
          <p:cNvSpPr/>
          <p:nvPr/>
        </p:nvSpPr>
        <p:spPr>
          <a:xfrm>
            <a:off x="3127248" y="3639312"/>
            <a:ext cx="2212848" cy="713232"/>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27248" y="3639312"/>
            <a:ext cx="38100" cy="713232"/>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3552" y="3767328"/>
            <a:ext cx="1938528" cy="457200"/>
          </a:xfrm>
          <a:prstGeom prst="rect">
            <a:avLst/>
          </a:prstGeom>
          <a:noFill/>
        </p:spPr>
        <p:txBody>
          <a:bodyPr wrap="square" lIns="0" rIns="0" tIns="0" bIns="0" anchor="t">
            <a:spAutoFit/>
          </a:bodyPr>
          <a:lstStyle/>
          <a:p>
            <a:pPr algn="l">
              <a:spcAft>
                <a:spcPts val="0"/>
              </a:spcAft>
            </a:pPr>
            <a:r>
              <a:rPr sz="1050" b="1" i="0">
                <a:solidFill>
                  <a:srgbClr val="0B0B0B"/>
                </a:solidFill>
                <a:latin typeface="Segoe UI"/>
              </a:rPr>
              <a:t>5  BOTTLENECKS
</a:t>
            </a:r>
            <a:r>
              <a:rPr sz="900" b="0" i="0">
                <a:solidFill>
                  <a:srgbClr val="52514E"/>
                </a:solidFill>
                <a:latin typeface="Segoe UI"/>
              </a:rPr>
              <a:t>bottleneck_detect.py — 5 patterns</a:t>
            </a:r>
          </a:p>
        </p:txBody>
      </p:sp>
      <p:sp>
        <p:nvSpPr>
          <p:cNvPr id="24" name="Rounded Rectangle 23"/>
          <p:cNvSpPr/>
          <p:nvPr/>
        </p:nvSpPr>
        <p:spPr>
          <a:xfrm>
            <a:off x="5596128" y="3639312"/>
            <a:ext cx="2212848" cy="713232"/>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96128" y="3639312"/>
            <a:ext cx="38100" cy="7132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42432" y="3767328"/>
            <a:ext cx="1938528" cy="457200"/>
          </a:xfrm>
          <a:prstGeom prst="rect">
            <a:avLst/>
          </a:prstGeom>
          <a:noFill/>
        </p:spPr>
        <p:txBody>
          <a:bodyPr wrap="square" lIns="0" rIns="0" tIns="0" bIns="0" anchor="t">
            <a:spAutoFit/>
          </a:bodyPr>
          <a:lstStyle/>
          <a:p>
            <a:pPr algn="l">
              <a:spcAft>
                <a:spcPts val="0"/>
              </a:spcAft>
            </a:pPr>
            <a:r>
              <a:rPr sz="1050" b="1" i="0">
                <a:solidFill>
                  <a:srgbClr val="0B0B0B"/>
                </a:solidFill>
                <a:latin typeface="Segoe UI"/>
              </a:rPr>
              <a:t>6  PREDICT
</a:t>
            </a:r>
            <a:r>
              <a:rPr sz="900" b="0" i="0">
                <a:solidFill>
                  <a:srgbClr val="52514E"/>
                </a:solidFill>
                <a:latin typeface="Segoe UI"/>
              </a:rPr>
              <a:t>forecast.py — damped trend + band</a:t>
            </a:r>
          </a:p>
        </p:txBody>
      </p:sp>
      <p:sp>
        <p:nvSpPr>
          <p:cNvPr id="27" name="Rounded Rectangle 26"/>
          <p:cNvSpPr/>
          <p:nvPr/>
        </p:nvSpPr>
        <p:spPr>
          <a:xfrm>
            <a:off x="658368" y="4553712"/>
            <a:ext cx="7223760"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4700016"/>
            <a:ext cx="6858000" cy="365760"/>
          </a:xfrm>
          <a:prstGeom prst="rect">
            <a:avLst/>
          </a:prstGeom>
          <a:noFill/>
        </p:spPr>
        <p:txBody>
          <a:bodyPr wrap="square" lIns="0" rIns="0" tIns="0" bIns="0" anchor="t">
            <a:spAutoFit/>
          </a:bodyPr>
          <a:lstStyle/>
          <a:p>
            <a:pPr algn="l">
              <a:spcAft>
                <a:spcPts val="0"/>
              </a:spcAft>
            </a:pPr>
            <a:r>
              <a:rPr sz="1150" b="1" i="0">
                <a:solidFill>
                  <a:srgbClr val="FFFFFF"/>
                </a:solidFill>
                <a:latin typeface="Segoe UI"/>
              </a:rPr>
              <a:t>7  PRESENT   </a:t>
            </a:r>
            <a:r>
              <a:rPr sz="1050" b="0" i="0">
                <a:solidFill>
                  <a:srgbClr val="E7F0FC"/>
                </a:solidFill>
                <a:latin typeface="Segoe UI"/>
              </a:rPr>
              <a:t>dashboard.py — two tracks, 13 views</a:t>
            </a:r>
          </a:p>
        </p:txBody>
      </p:sp>
      <p:sp>
        <p:nvSpPr>
          <p:cNvPr id="29" name="TextBox 28"/>
          <p:cNvSpPr txBox="1"/>
          <p:nvPr/>
        </p:nvSpPr>
        <p:spPr>
          <a:xfrm>
            <a:off x="8156447" y="4608576"/>
            <a:ext cx="3383280" cy="731520"/>
          </a:xfrm>
          <a:prstGeom prst="rect">
            <a:avLst/>
          </a:prstGeom>
          <a:noFill/>
        </p:spPr>
        <p:txBody>
          <a:bodyPr wrap="square" lIns="0" rIns="0" tIns="0" bIns="0" anchor="t">
            <a:spAutoFit/>
          </a:bodyPr>
          <a:lstStyle/>
          <a:p>
            <a:pPr algn="l">
              <a:spcAft>
                <a:spcPts val="0"/>
              </a:spcAft>
            </a:pPr>
            <a:r>
              <a:rPr sz="1000" b="1" i="0">
                <a:solidFill>
                  <a:srgbClr val="0B0B0B"/>
                </a:solidFill>
                <a:latin typeface="Segoe UI"/>
              </a:rPr>
              <a:t>Standards, not guesses.
</a:t>
            </a:r>
            <a:r>
              <a:rPr sz="900" b="0" i="0">
                <a:solidFill>
                  <a:srgbClr val="52514E"/>
                </a:solidFill>
                <a:latin typeface="Segoe UI"/>
              </a:rPr>
              <a:t>IRC:106-1990 (PCU) · IRC:SP:41-1994 (saturation flow) · IRC:103-2012 (pedestrian green)</a:t>
            </a:r>
          </a:p>
        </p:txBody>
      </p:sp>
      <p:sp>
        <p:nvSpPr>
          <p:cNvPr id="30" name="TextBox 29"/>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1" name="TextBox 30"/>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WORKFLOW / PROCESS FLOW</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End to end, in five steps</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One command runs the dashboard; the full pipeline is five steps from raw video.</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938528"/>
            <a:ext cx="566928"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84832"/>
            <a:ext cx="566928"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Segoe UI"/>
              </a:rPr>
              <a:t>01</a:t>
            </a:r>
          </a:p>
        </p:txBody>
      </p:sp>
      <p:sp>
        <p:nvSpPr>
          <p:cNvPr id="8" name="TextBox 7"/>
          <p:cNvSpPr txBox="1"/>
          <p:nvPr/>
        </p:nvSpPr>
        <p:spPr>
          <a:xfrm>
            <a:off x="1444752" y="1993392"/>
            <a:ext cx="10058400" cy="548640"/>
          </a:xfrm>
          <a:prstGeom prst="rect">
            <a:avLst/>
          </a:prstGeom>
          <a:noFill/>
        </p:spPr>
        <p:txBody>
          <a:bodyPr wrap="square" lIns="0" rIns="0" tIns="0" bIns="0" anchor="t">
            <a:spAutoFit/>
          </a:bodyPr>
          <a:lstStyle/>
          <a:p>
            <a:pPr algn="l">
              <a:spcAft>
                <a:spcPts val="0"/>
              </a:spcAft>
            </a:pPr>
            <a:r>
              <a:rPr sz="1350" b="1" i="0">
                <a:solidFill>
                  <a:srgbClr val="0B0B0B"/>
                </a:solidFill>
                <a:latin typeface="Segoe UI"/>
              </a:rPr>
              <a:t>Reference frames
</a:t>
            </a:r>
            <a:r>
              <a:rPr sz="1150" b="0" i="0">
                <a:solidFill>
                  <a:srgbClr val="52514E"/>
                </a:solidFill>
                <a:latin typeface="Segoe UI"/>
              </a:rPr>
              <a:t>One clean frame per camera, for every overlay drawn later.</a:t>
            </a:r>
          </a:p>
        </p:txBody>
      </p:sp>
      <p:sp>
        <p:nvSpPr>
          <p:cNvPr id="9" name="Rounded Rectangle 8"/>
          <p:cNvSpPr/>
          <p:nvPr/>
        </p:nvSpPr>
        <p:spPr>
          <a:xfrm>
            <a:off x="658368" y="2651760"/>
            <a:ext cx="566928"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98064"/>
            <a:ext cx="566928"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Segoe UI"/>
              </a:rPr>
              <a:t>02</a:t>
            </a:r>
          </a:p>
        </p:txBody>
      </p:sp>
      <p:sp>
        <p:nvSpPr>
          <p:cNvPr id="11" name="TextBox 10"/>
          <p:cNvSpPr txBox="1"/>
          <p:nvPr/>
        </p:nvSpPr>
        <p:spPr>
          <a:xfrm>
            <a:off x="1444752" y="2706624"/>
            <a:ext cx="10058400" cy="548640"/>
          </a:xfrm>
          <a:prstGeom prst="rect">
            <a:avLst/>
          </a:prstGeom>
          <a:noFill/>
        </p:spPr>
        <p:txBody>
          <a:bodyPr wrap="square" lIns="0" rIns="0" tIns="0" bIns="0" anchor="t">
            <a:spAutoFit/>
          </a:bodyPr>
          <a:lstStyle/>
          <a:p>
            <a:pPr algn="l">
              <a:spcAft>
                <a:spcPts val="0"/>
              </a:spcAft>
            </a:pPr>
            <a:r>
              <a:rPr sz="1350" b="1" i="0">
                <a:solidFill>
                  <a:srgbClr val="0B0B0B"/>
                </a:solidFill>
                <a:latin typeface="Segoe UI"/>
              </a:rPr>
              <a:t>Calibration
</a:t>
            </a:r>
            <a:r>
              <a:rPr sz="1150" b="0" i="0">
                <a:solidFill>
                  <a:srgbClr val="52514E"/>
                </a:solidFill>
                <a:latin typeface="Segoe UI"/>
              </a:rPr>
              <a:t>Lane / zone polygons traced, then validated against a movement heatmap.</a:t>
            </a:r>
          </a:p>
        </p:txBody>
      </p:sp>
      <p:sp>
        <p:nvSpPr>
          <p:cNvPr id="12" name="Rounded Rectangle 11"/>
          <p:cNvSpPr/>
          <p:nvPr/>
        </p:nvSpPr>
        <p:spPr>
          <a:xfrm>
            <a:off x="658368" y="3364992"/>
            <a:ext cx="566928"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511296"/>
            <a:ext cx="566928"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Segoe UI"/>
              </a:rPr>
              <a:t>03</a:t>
            </a:r>
          </a:p>
        </p:txBody>
      </p:sp>
      <p:sp>
        <p:nvSpPr>
          <p:cNvPr id="14" name="TextBox 13"/>
          <p:cNvSpPr txBox="1"/>
          <p:nvPr/>
        </p:nvSpPr>
        <p:spPr>
          <a:xfrm>
            <a:off x="1444752" y="3419856"/>
            <a:ext cx="10058400" cy="548640"/>
          </a:xfrm>
          <a:prstGeom prst="rect">
            <a:avLst/>
          </a:prstGeom>
          <a:noFill/>
        </p:spPr>
        <p:txBody>
          <a:bodyPr wrap="square" lIns="0" rIns="0" tIns="0" bIns="0" anchor="t">
            <a:spAutoFit/>
          </a:bodyPr>
          <a:lstStyle/>
          <a:p>
            <a:pPr algn="l">
              <a:spcAft>
                <a:spcPts val="0"/>
              </a:spcAft>
            </a:pPr>
            <a:r>
              <a:rPr sz="1350" b="1" i="0">
                <a:solidFill>
                  <a:srgbClr val="0B0B0B"/>
                </a:solidFill>
                <a:latin typeface="Segoe UI"/>
              </a:rPr>
              <a:t>Analyse
</a:t>
            </a:r>
            <a:r>
              <a:rPr sz="1150" b="0" i="0">
                <a:solidFill>
                  <a:srgbClr val="52514E"/>
                </a:solidFill>
                <a:latin typeface="Segoe UI"/>
              </a:rPr>
              <a:t>Detect → track → assign to zone → measure. Writes one row per zone per 2 s window.</a:t>
            </a:r>
          </a:p>
        </p:txBody>
      </p:sp>
      <p:sp>
        <p:nvSpPr>
          <p:cNvPr id="15" name="Rounded Rectangle 14"/>
          <p:cNvSpPr/>
          <p:nvPr/>
        </p:nvSpPr>
        <p:spPr>
          <a:xfrm>
            <a:off x="658368" y="4078224"/>
            <a:ext cx="566928"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224528"/>
            <a:ext cx="566928"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Segoe UI"/>
              </a:rPr>
              <a:t>04</a:t>
            </a:r>
          </a:p>
        </p:txBody>
      </p:sp>
      <p:sp>
        <p:nvSpPr>
          <p:cNvPr id="17" name="TextBox 16"/>
          <p:cNvSpPr txBox="1"/>
          <p:nvPr/>
        </p:nvSpPr>
        <p:spPr>
          <a:xfrm>
            <a:off x="1444752" y="4133088"/>
            <a:ext cx="10058400" cy="548640"/>
          </a:xfrm>
          <a:prstGeom prst="rect">
            <a:avLst/>
          </a:prstGeom>
          <a:noFill/>
        </p:spPr>
        <p:txBody>
          <a:bodyPr wrap="square" lIns="0" rIns="0" tIns="0" bIns="0" anchor="t">
            <a:spAutoFit/>
          </a:bodyPr>
          <a:lstStyle/>
          <a:p>
            <a:pPr algn="l">
              <a:spcAft>
                <a:spcPts val="0"/>
              </a:spcAft>
            </a:pPr>
            <a:r>
              <a:rPr sz="1350" b="1" i="0">
                <a:solidFill>
                  <a:srgbClr val="0B0B0B"/>
                </a:solidFill>
                <a:latin typeface="Segoe UI"/>
              </a:rPr>
              <a:t>Optimise &amp; detect
</a:t>
            </a:r>
            <a:r>
              <a:rPr sz="1150" b="0" i="0">
                <a:solidFill>
                  <a:srgbClr val="52514E"/>
                </a:solidFill>
                <a:latin typeface="Segoe UI"/>
              </a:rPr>
              <a:t>Webster's cycle and splits; five sustained-pattern bottleneck detectors; damped-trend forecast.</a:t>
            </a:r>
          </a:p>
        </p:txBody>
      </p:sp>
      <p:sp>
        <p:nvSpPr>
          <p:cNvPr id="18" name="Rounded Rectangle 17"/>
          <p:cNvSpPr/>
          <p:nvPr/>
        </p:nvSpPr>
        <p:spPr>
          <a:xfrm>
            <a:off x="658368" y="4791456"/>
            <a:ext cx="566928" cy="566928"/>
          </a:xfrm>
          <a:prstGeom prst="roundRect">
            <a:avLst>
              <a:gd name="adj" fmla="val 4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937760"/>
            <a:ext cx="566928"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Segoe UI"/>
              </a:rPr>
              <a:t>05</a:t>
            </a:r>
          </a:p>
        </p:txBody>
      </p:sp>
      <p:sp>
        <p:nvSpPr>
          <p:cNvPr id="20" name="TextBox 19"/>
          <p:cNvSpPr txBox="1"/>
          <p:nvPr/>
        </p:nvSpPr>
        <p:spPr>
          <a:xfrm>
            <a:off x="1444752" y="4846320"/>
            <a:ext cx="10058400" cy="548640"/>
          </a:xfrm>
          <a:prstGeom prst="rect">
            <a:avLst/>
          </a:prstGeom>
          <a:noFill/>
        </p:spPr>
        <p:txBody>
          <a:bodyPr wrap="square" lIns="0" rIns="0" tIns="0" bIns="0" anchor="t">
            <a:spAutoFit/>
          </a:bodyPr>
          <a:lstStyle/>
          <a:p>
            <a:pPr algn="l">
              <a:spcAft>
                <a:spcPts val="0"/>
              </a:spcAft>
            </a:pPr>
            <a:r>
              <a:rPr sz="1350" b="1" i="0">
                <a:solidFill>
                  <a:srgbClr val="0B0B0B"/>
                </a:solidFill>
                <a:latin typeface="Segoe UI"/>
              </a:rPr>
              <a:t>Present
</a:t>
            </a:r>
            <a:r>
              <a:rPr sz="1150" b="0" i="0">
                <a:solidFill>
                  <a:srgbClr val="52514E"/>
                </a:solidFill>
                <a:latin typeface="Segoe UI"/>
              </a:rPr>
              <a:t>Two-track dashboard. Every chart has a table beside it, so no value is reachable only by hovering.</a:t>
            </a:r>
          </a:p>
        </p:txBody>
      </p:sp>
      <p:sp>
        <p:nvSpPr>
          <p:cNvPr id="21" name="Rounded Rectangle 20"/>
          <p:cNvSpPr/>
          <p:nvPr/>
        </p:nvSpPr>
        <p:spPr>
          <a:xfrm>
            <a:off x="658368" y="5614416"/>
            <a:ext cx="10874959" cy="93268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5614416"/>
            <a:ext cx="40640" cy="93268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733288"/>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Reproducible without the video</a:t>
            </a:r>
          </a:p>
        </p:txBody>
      </p:sp>
      <p:sp>
        <p:nvSpPr>
          <p:cNvPr id="24" name="TextBox 23"/>
          <p:cNvSpPr txBox="1"/>
          <p:nvPr/>
        </p:nvSpPr>
        <p:spPr>
          <a:xfrm>
            <a:off x="859536" y="5961888"/>
            <a:ext cx="10472623" cy="49377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The metrics CSVs are committed, so the entire Webster track — every operational figure in this deck — runs immediately with no video download, no GPU and no model weights.</a:t>
            </a:r>
          </a:p>
        </p:txBody>
      </p:sp>
      <p:sp>
        <p:nvSpPr>
          <p:cNvPr id="25" name="TextBox 24"/>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26" name="TextBox 25"/>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AI / ML MODELS</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The weights matter more than the architecture</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36776"/>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Model</a:t>
            </a:r>
          </a:p>
        </p:txBody>
      </p:sp>
      <p:sp>
        <p:nvSpPr>
          <p:cNvPr id="6" name="TextBox 5"/>
          <p:cNvSpPr txBox="1"/>
          <p:nvPr/>
        </p:nvSpPr>
        <p:spPr>
          <a:xfrm>
            <a:off x="2468880" y="1636776"/>
            <a:ext cx="4059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UVH-26-MV-YOLOv11-S</a:t>
            </a:r>
          </a:p>
        </p:txBody>
      </p:sp>
      <p:sp>
        <p:nvSpPr>
          <p:cNvPr id="7" name="Rectangle 6"/>
          <p:cNvSpPr/>
          <p:nvPr/>
        </p:nvSpPr>
        <p:spPr>
          <a:xfrm>
            <a:off x="658368" y="1883664"/>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47672"/>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Source</a:t>
            </a:r>
          </a:p>
        </p:txBody>
      </p:sp>
      <p:sp>
        <p:nvSpPr>
          <p:cNvPr id="9" name="TextBox 8"/>
          <p:cNvSpPr txBox="1"/>
          <p:nvPr/>
        </p:nvSpPr>
        <p:spPr>
          <a:xfrm>
            <a:off x="2468880" y="1947672"/>
            <a:ext cx="4059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HuggingFace iisc-aim/UVH-26 @ v1.0</a:t>
            </a:r>
          </a:p>
        </p:txBody>
      </p:sp>
      <p:sp>
        <p:nvSpPr>
          <p:cNvPr id="10" name="Rectangle 9"/>
          <p:cNvSpPr/>
          <p:nvPr/>
        </p:nvSpPr>
        <p:spPr>
          <a:xfrm>
            <a:off x="658368" y="2194560"/>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58568"/>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Trained on</a:t>
            </a:r>
          </a:p>
        </p:txBody>
      </p:sp>
      <p:sp>
        <p:nvSpPr>
          <p:cNvPr id="12" name="TextBox 11"/>
          <p:cNvSpPr txBox="1"/>
          <p:nvPr/>
        </p:nvSpPr>
        <p:spPr>
          <a:xfrm>
            <a:off x="2468880" y="2258568"/>
            <a:ext cx="405993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26,646 annotated 1080p frames</a:t>
            </a:r>
          </a:p>
        </p:txBody>
      </p:sp>
      <p:sp>
        <p:nvSpPr>
          <p:cNvPr id="13" name="Rectangle 12"/>
          <p:cNvSpPr/>
          <p:nvPr/>
        </p:nvSpPr>
        <p:spPr>
          <a:xfrm>
            <a:off x="658368" y="2505456"/>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569464"/>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Domain</a:t>
            </a:r>
          </a:p>
        </p:txBody>
      </p:sp>
      <p:sp>
        <p:nvSpPr>
          <p:cNvPr id="15" name="TextBox 14"/>
          <p:cNvSpPr txBox="1"/>
          <p:nvPr/>
        </p:nvSpPr>
        <p:spPr>
          <a:xfrm>
            <a:off x="2468880" y="2569464"/>
            <a:ext cx="4059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Indian Safe-City CCTV</a:t>
            </a:r>
          </a:p>
        </p:txBody>
      </p:sp>
      <p:sp>
        <p:nvSpPr>
          <p:cNvPr id="16" name="Rectangle 15"/>
          <p:cNvSpPr/>
          <p:nvPr/>
        </p:nvSpPr>
        <p:spPr>
          <a:xfrm>
            <a:off x="658368" y="2816352"/>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80360"/>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Classes</a:t>
            </a:r>
          </a:p>
        </p:txBody>
      </p:sp>
      <p:sp>
        <p:nvSpPr>
          <p:cNvPr id="18" name="TextBox 17"/>
          <p:cNvSpPr txBox="1"/>
          <p:nvPr/>
        </p:nvSpPr>
        <p:spPr>
          <a:xfrm>
            <a:off x="2468880" y="2880360"/>
            <a:ext cx="4059936" cy="310896"/>
          </a:xfrm>
          <a:prstGeom prst="rect">
            <a:avLst/>
          </a:prstGeom>
          <a:noFill/>
        </p:spPr>
        <p:txBody>
          <a:bodyPr wrap="square" lIns="0" rIns="0" tIns="0" bIns="0" anchor="ctr">
            <a:spAutoFit/>
          </a:bodyPr>
          <a:lstStyle/>
          <a:p>
            <a:pPr algn="r">
              <a:spcAft>
                <a:spcPts val="0"/>
              </a:spcAft>
            </a:pPr>
            <a:r>
              <a:rPr sz="1200" b="0" i="0">
                <a:solidFill>
                  <a:srgbClr val="0B0B0B"/>
                </a:solidFill>
                <a:latin typeface="Segoe UI"/>
              </a:rPr>
              <a:t>14 India-specific vehicle types</a:t>
            </a:r>
          </a:p>
        </p:txBody>
      </p:sp>
      <p:sp>
        <p:nvSpPr>
          <p:cNvPr id="19" name="Rectangle 18"/>
          <p:cNvSpPr/>
          <p:nvPr/>
        </p:nvSpPr>
        <p:spPr>
          <a:xfrm>
            <a:off x="658368" y="3127248"/>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191256"/>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Tracker</a:t>
            </a:r>
          </a:p>
        </p:txBody>
      </p:sp>
      <p:sp>
        <p:nvSpPr>
          <p:cNvPr id="21" name="TextBox 20"/>
          <p:cNvSpPr txBox="1"/>
          <p:nvPr/>
        </p:nvSpPr>
        <p:spPr>
          <a:xfrm>
            <a:off x="2468880" y="3191256"/>
            <a:ext cx="4059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ByteTrack (crowded-scene association)</a:t>
            </a:r>
          </a:p>
        </p:txBody>
      </p:sp>
      <p:sp>
        <p:nvSpPr>
          <p:cNvPr id="22" name="Rectangle 21"/>
          <p:cNvSpPr/>
          <p:nvPr/>
        </p:nvSpPr>
        <p:spPr>
          <a:xfrm>
            <a:off x="658368" y="3438144"/>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502152"/>
            <a:ext cx="1591056" cy="310896"/>
          </a:xfrm>
          <a:prstGeom prst="rect">
            <a:avLst/>
          </a:prstGeom>
          <a:noFill/>
        </p:spPr>
        <p:txBody>
          <a:bodyPr wrap="square" lIns="0" rIns="0" tIns="0" bIns="0" anchor="ctr">
            <a:spAutoFit/>
          </a:bodyPr>
          <a:lstStyle/>
          <a:p>
            <a:pPr algn="l">
              <a:spcAft>
                <a:spcPts val="0"/>
              </a:spcAft>
            </a:pPr>
            <a:r>
              <a:rPr sz="1200" b="1" i="0">
                <a:solidFill>
                  <a:srgbClr val="0B0B0B"/>
                </a:solidFill>
                <a:latin typeface="Segoe UI"/>
              </a:rPr>
              <a:t>Throughput</a:t>
            </a:r>
          </a:p>
        </p:txBody>
      </p:sp>
      <p:sp>
        <p:nvSpPr>
          <p:cNvPr id="24" name="TextBox 23"/>
          <p:cNvSpPr txBox="1"/>
          <p:nvPr/>
        </p:nvSpPr>
        <p:spPr>
          <a:xfrm>
            <a:off x="2468880" y="3502152"/>
            <a:ext cx="4059936" cy="310896"/>
          </a:xfrm>
          <a:prstGeom prst="rect">
            <a:avLst/>
          </a:prstGeom>
          <a:noFill/>
        </p:spPr>
        <p:txBody>
          <a:bodyPr wrap="square" lIns="0" rIns="0" tIns="0" bIns="0" anchor="ctr">
            <a:spAutoFit/>
          </a:bodyPr>
          <a:lstStyle/>
          <a:p>
            <a:pPr algn="l">
              <a:spcAft>
                <a:spcPts val="0"/>
              </a:spcAft>
            </a:pPr>
            <a:r>
              <a:rPr sz="1200" b="0" i="0">
                <a:solidFill>
                  <a:srgbClr val="0B0B0B"/>
                </a:solidFill>
                <a:latin typeface="Segoe UI"/>
              </a:rPr>
              <a:t>≈12 FPS @ 960px on RTX 3050 6 GB</a:t>
            </a:r>
          </a:p>
        </p:txBody>
      </p:sp>
      <p:sp>
        <p:nvSpPr>
          <p:cNvPr id="25" name="Rectangle 24"/>
          <p:cNvSpPr/>
          <p:nvPr/>
        </p:nvSpPr>
        <p:spPr>
          <a:xfrm>
            <a:off x="658368" y="3749040"/>
            <a:ext cx="594360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59168" y="1572768"/>
            <a:ext cx="4846320" cy="365760"/>
          </a:xfrm>
          <a:prstGeom prst="rect">
            <a:avLst/>
          </a:prstGeom>
          <a:noFill/>
        </p:spPr>
        <p:txBody>
          <a:bodyPr wrap="square" lIns="0" rIns="0" tIns="0" bIns="0" anchor="t">
            <a:spAutoFit/>
          </a:bodyPr>
          <a:lstStyle/>
          <a:p>
            <a:pPr algn="l">
              <a:spcAft>
                <a:spcPts val="1100"/>
              </a:spcAft>
            </a:pPr>
            <a:r>
              <a:rPr sz="1250" b="1" i="0">
                <a:solidFill>
                  <a:srgbClr val="2A78D6"/>
                </a:solidFill>
                <a:latin typeface="Segoe UI"/>
              </a:rPr>
              <a:t>▪  </a:t>
            </a:r>
            <a:r>
              <a:rPr sz="1250" b="1" i="0">
                <a:solidFill>
                  <a:srgbClr val="0B0B0B"/>
                </a:solidFill>
                <a:latin typeface="Segoe UI"/>
              </a:rPr>
              <a:t>Why this fine-tune. </a:t>
            </a:r>
            <a:r>
              <a:rPr sz="1250" b="0" i="0">
                <a:solidFill>
                  <a:srgbClr val="52514E"/>
                </a:solidFill>
                <a:latin typeface="Segoe UI"/>
              </a:rPr>
              <a:t>Same domain as our footage, and it carries the auto-rickshaw — a class COCO does not have at all, and which dominates most of these clips.</a:t>
            </a:r>
          </a:p>
          <a:p>
            <a:pPr>
              <a:spcAft>
                <a:spcPts val="1100"/>
              </a:spcAft>
            </a:pPr>
            <a:r>
              <a:rPr sz="1250" b="1" i="0">
                <a:solidFill>
                  <a:srgbClr val="2A78D6"/>
                </a:solidFill>
                <a:latin typeface="Segoe UI"/>
              </a:rPr>
              <a:t>▪  </a:t>
            </a:r>
            <a:r>
              <a:rPr sz="1250" b="1" i="0">
                <a:solidFill>
                  <a:srgbClr val="0B0B0B"/>
                </a:solidFill>
                <a:latin typeface="Segoe UI"/>
              </a:rPr>
              <a:t>We did not train it. </a:t>
            </a:r>
            <a:r>
              <a:rPr sz="1250" b="0" i="0">
                <a:solidFill>
                  <a:srgbClr val="52514E"/>
                </a:solidFill>
                <a:latin typeface="Segoe UI"/>
              </a:rPr>
              <a:t>Used as published. That removed the need to train on an unlabelled dataset.</a:t>
            </a:r>
          </a:p>
          <a:p>
            <a:pPr>
              <a:spcAft>
                <a:spcPts val="1100"/>
              </a:spcAft>
            </a:pPr>
            <a:r>
              <a:rPr sz="1250" b="1" i="0">
                <a:solidFill>
                  <a:srgbClr val="2A78D6"/>
                </a:solidFill>
                <a:latin typeface="Segoe UI"/>
              </a:rPr>
              <a:t>▪  </a:t>
            </a:r>
            <a:r>
              <a:rPr sz="1250" b="1" i="0">
                <a:solidFill>
                  <a:srgbClr val="0B0B0B"/>
                </a:solidFill>
                <a:latin typeface="Segoe UI"/>
              </a:rPr>
              <a:t>Density in PCU, not counts. </a:t>
            </a:r>
            <a:r>
              <a:rPr sz="1250" b="0" i="0">
                <a:solidFill>
                  <a:srgbClr val="52514E"/>
                </a:solidFill>
                <a:latin typeface="Segoe UI"/>
              </a:rPr>
              <a:t>Twelve two-wheelers and twelve buses are not the same amount of traffic. IRC:106-1990 factors.</a:t>
            </a:r>
          </a:p>
        </p:txBody>
      </p:sp>
      <p:sp>
        <p:nvSpPr>
          <p:cNvPr id="27" name="Rounded Rectangle 26"/>
          <p:cNvSpPr/>
          <p:nvPr/>
        </p:nvSpPr>
        <p:spPr>
          <a:xfrm>
            <a:off x="658368" y="4617720"/>
            <a:ext cx="10874959" cy="111556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617720"/>
            <a:ext cx="40640" cy="111556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4736592"/>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Flow is never counted from tracker IDs</a:t>
            </a:r>
          </a:p>
        </p:txBody>
      </p:sp>
      <p:sp>
        <p:nvSpPr>
          <p:cNvPr id="30" name="TextBox 29"/>
          <p:cNvSpPr txBox="1"/>
          <p:nvPr/>
        </p:nvSpPr>
        <p:spPr>
          <a:xfrm>
            <a:off x="859536" y="4965192"/>
            <a:ext cx="10472623" cy="67665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ByteTrack reissues IDs whenever a track drops briefly — constant in dense mixed traffic — so counting them inflated flow tenfold, to 12,000–23,000 PCU/hr against a real saturation flow near 1,800. Flow comes from the fundamental relation q = k·v instead, on directly measured density and speed.</a:t>
            </a:r>
          </a:p>
        </p:txBody>
      </p:sp>
      <p:sp>
        <p:nvSpPr>
          <p:cNvPr id="31" name="TextBox 30"/>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2" name="TextBox 31"/>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RESULTS  ·  SURAT</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The operational system — Webster's</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Baseline is an untuned fixed timer with equal green splits.</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938528"/>
            <a:ext cx="2581579" cy="1371600"/>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40640" cy="13716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084832"/>
            <a:ext cx="2179243" cy="201168"/>
          </a:xfrm>
          <a:prstGeom prst="rect">
            <a:avLst/>
          </a:prstGeom>
          <a:noFill/>
        </p:spPr>
        <p:txBody>
          <a:bodyPr wrap="square" lIns="0" rIns="0" tIns="0" bIns="0" anchor="t">
            <a:spAutoFit/>
          </a:bodyPr>
          <a:lstStyle/>
          <a:p>
            <a:pPr algn="l">
              <a:spcAft>
                <a:spcPts val="0"/>
              </a:spcAft>
            </a:pPr>
            <a:r>
              <a:rPr sz="900" b="1" i="0">
                <a:solidFill>
                  <a:srgbClr val="898781"/>
                </a:solidFill>
                <a:latin typeface="Segoe UI"/>
              </a:rPr>
              <a:t>WORST-APPROACH SATURATION</a:t>
            </a:r>
          </a:p>
        </p:txBody>
      </p:sp>
      <p:sp>
        <p:nvSpPr>
          <p:cNvPr id="9" name="TextBox 8"/>
          <p:cNvSpPr txBox="1"/>
          <p:nvPr/>
        </p:nvSpPr>
        <p:spPr>
          <a:xfrm>
            <a:off x="859536" y="2322576"/>
            <a:ext cx="2179243" cy="457200"/>
          </a:xfrm>
          <a:prstGeom prst="rect">
            <a:avLst/>
          </a:prstGeom>
          <a:noFill/>
        </p:spPr>
        <p:txBody>
          <a:bodyPr wrap="square" lIns="0" rIns="0" tIns="0" bIns="0" anchor="t">
            <a:spAutoFit/>
          </a:bodyPr>
          <a:lstStyle/>
          <a:p>
            <a:pPr algn="l">
              <a:spcAft>
                <a:spcPts val="0"/>
              </a:spcAft>
            </a:pPr>
            <a:r>
              <a:rPr sz="2700" b="1" i="0">
                <a:solidFill>
                  <a:srgbClr val="D03B3B"/>
                </a:solidFill>
                <a:latin typeface="Segoe UI"/>
              </a:rPr>
              <a:t>1.01 → 0.929</a:t>
            </a:r>
          </a:p>
        </p:txBody>
      </p:sp>
      <p:sp>
        <p:nvSpPr>
          <p:cNvPr id="10" name="TextBox 9"/>
          <p:cNvSpPr txBox="1"/>
          <p:nvPr/>
        </p:nvSpPr>
        <p:spPr>
          <a:xfrm>
            <a:off x="859536" y="2807208"/>
            <a:ext cx="2179243" cy="411480"/>
          </a:xfrm>
          <a:prstGeom prst="rect">
            <a:avLst/>
          </a:prstGeom>
          <a:noFill/>
        </p:spPr>
        <p:txBody>
          <a:bodyPr wrap="square" lIns="0" rIns="0" tIns="0" bIns="0" anchor="t">
            <a:spAutoFit/>
          </a:bodyPr>
          <a:lstStyle/>
          <a:p>
            <a:pPr algn="l">
              <a:spcAft>
                <a:spcPts val="0"/>
              </a:spcAft>
            </a:pPr>
            <a:r>
              <a:rPr sz="1000" b="0" i="0">
                <a:solidFill>
                  <a:srgbClr val="52514E"/>
                </a:solidFill>
                <a:latin typeface="Segoe UI"/>
              </a:rPr>
              <a:t>Crosses back under 1.0 — the queue clears within the cycle again</a:t>
            </a:r>
          </a:p>
        </p:txBody>
      </p:sp>
      <p:sp>
        <p:nvSpPr>
          <p:cNvPr id="11" name="Rounded Rectangle 10"/>
          <p:cNvSpPr/>
          <p:nvPr/>
        </p:nvSpPr>
        <p:spPr>
          <a:xfrm>
            <a:off x="3422827" y="1938528"/>
            <a:ext cx="2581579" cy="1371600"/>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2827" y="1938528"/>
            <a:ext cx="40640" cy="13716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3995" y="2084832"/>
            <a:ext cx="2179243" cy="201168"/>
          </a:xfrm>
          <a:prstGeom prst="rect">
            <a:avLst/>
          </a:prstGeom>
          <a:noFill/>
        </p:spPr>
        <p:txBody>
          <a:bodyPr wrap="square" lIns="0" rIns="0" tIns="0" bIns="0" anchor="t">
            <a:spAutoFit/>
          </a:bodyPr>
          <a:lstStyle/>
          <a:p>
            <a:pPr algn="l">
              <a:spcAft>
                <a:spcPts val="0"/>
              </a:spcAft>
            </a:pPr>
            <a:r>
              <a:rPr sz="900" b="1" i="0">
                <a:solidFill>
                  <a:srgbClr val="898781"/>
                </a:solidFill>
                <a:latin typeface="Segoe UI"/>
              </a:rPr>
              <a:t>CYCLE LENGTH</a:t>
            </a:r>
          </a:p>
        </p:txBody>
      </p:sp>
      <p:sp>
        <p:nvSpPr>
          <p:cNvPr id="14" name="TextBox 13"/>
          <p:cNvSpPr txBox="1"/>
          <p:nvPr/>
        </p:nvSpPr>
        <p:spPr>
          <a:xfrm>
            <a:off x="3623995" y="2322576"/>
            <a:ext cx="2179243" cy="457200"/>
          </a:xfrm>
          <a:prstGeom prst="rect">
            <a:avLst/>
          </a:prstGeom>
          <a:noFill/>
        </p:spPr>
        <p:txBody>
          <a:bodyPr wrap="square" lIns="0" rIns="0" tIns="0" bIns="0" anchor="t">
            <a:spAutoFit/>
          </a:bodyPr>
          <a:lstStyle/>
          <a:p>
            <a:pPr algn="l">
              <a:spcAft>
                <a:spcPts val="0"/>
              </a:spcAft>
            </a:pPr>
            <a:r>
              <a:rPr sz="2700" b="1" i="0">
                <a:solidFill>
                  <a:srgbClr val="2A78D6"/>
                </a:solidFill>
                <a:latin typeface="Segoe UI"/>
              </a:rPr>
              <a:t>135.6</a:t>
            </a:r>
            <a:r>
              <a:rPr sz="1200" b="1" i="0">
                <a:solidFill>
                  <a:srgbClr val="2A78D6"/>
                </a:solidFill>
                <a:latin typeface="Segoe UI"/>
              </a:rPr>
              <a:t> s</a:t>
            </a:r>
          </a:p>
        </p:txBody>
      </p:sp>
      <p:sp>
        <p:nvSpPr>
          <p:cNvPr id="15" name="TextBox 14"/>
          <p:cNvSpPr txBox="1"/>
          <p:nvPr/>
        </p:nvSpPr>
        <p:spPr>
          <a:xfrm>
            <a:off x="3623995" y="2807208"/>
            <a:ext cx="2179243" cy="411480"/>
          </a:xfrm>
          <a:prstGeom prst="rect">
            <a:avLst/>
          </a:prstGeom>
          <a:noFill/>
        </p:spPr>
        <p:txBody>
          <a:bodyPr wrap="square" lIns="0" rIns="0" tIns="0" bIns="0" anchor="t">
            <a:spAutoFit/>
          </a:bodyPr>
          <a:lstStyle/>
          <a:p>
            <a:pPr algn="l">
              <a:spcAft>
                <a:spcPts val="0"/>
              </a:spcAft>
            </a:pPr>
            <a:r>
              <a:rPr sz="1000" b="0" i="0">
                <a:solidFill>
                  <a:srgbClr val="52514E"/>
                </a:solidFill>
                <a:latin typeface="Segoe UI"/>
              </a:rPr>
              <a:t>Optimal, against a 120 s fixed baseline</a:t>
            </a:r>
          </a:p>
        </p:txBody>
      </p:sp>
      <p:sp>
        <p:nvSpPr>
          <p:cNvPr id="16" name="Rounded Rectangle 15"/>
          <p:cNvSpPr/>
          <p:nvPr/>
        </p:nvSpPr>
        <p:spPr>
          <a:xfrm>
            <a:off x="6187287" y="1938528"/>
            <a:ext cx="2581579" cy="1371600"/>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1938528"/>
            <a:ext cx="40640" cy="13716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2084832"/>
            <a:ext cx="2179243" cy="201168"/>
          </a:xfrm>
          <a:prstGeom prst="rect">
            <a:avLst/>
          </a:prstGeom>
          <a:noFill/>
        </p:spPr>
        <p:txBody>
          <a:bodyPr wrap="square" lIns="0" rIns="0" tIns="0" bIns="0" anchor="t">
            <a:spAutoFit/>
          </a:bodyPr>
          <a:lstStyle/>
          <a:p>
            <a:pPr algn="l">
              <a:spcAft>
                <a:spcPts val="0"/>
              </a:spcAft>
            </a:pPr>
            <a:r>
              <a:rPr sz="900" b="1" i="0">
                <a:solidFill>
                  <a:srgbClr val="898781"/>
                </a:solidFill>
                <a:latin typeface="Segoe UI"/>
              </a:rPr>
              <a:t>MEAN DELAY</a:t>
            </a:r>
          </a:p>
        </p:txBody>
      </p:sp>
      <p:sp>
        <p:nvSpPr>
          <p:cNvPr id="19" name="TextBox 18"/>
          <p:cNvSpPr txBox="1"/>
          <p:nvPr/>
        </p:nvSpPr>
        <p:spPr>
          <a:xfrm>
            <a:off x="6388455" y="2322576"/>
            <a:ext cx="2179243" cy="457200"/>
          </a:xfrm>
          <a:prstGeom prst="rect">
            <a:avLst/>
          </a:prstGeom>
          <a:noFill/>
        </p:spPr>
        <p:txBody>
          <a:bodyPr wrap="square" lIns="0" rIns="0" tIns="0" bIns="0" anchor="t">
            <a:spAutoFit/>
          </a:bodyPr>
          <a:lstStyle/>
          <a:p>
            <a:pPr algn="l">
              <a:spcAft>
                <a:spcPts val="0"/>
              </a:spcAft>
            </a:pPr>
            <a:r>
              <a:rPr sz="2700" b="1" i="0">
                <a:solidFill>
                  <a:srgbClr val="1BAF7A"/>
                </a:solidFill>
                <a:latin typeface="Segoe UI"/>
              </a:rPr>
              <a:t>−3.8</a:t>
            </a:r>
            <a:r>
              <a:rPr sz="1200" b="1" i="0">
                <a:solidFill>
                  <a:srgbClr val="1BAF7A"/>
                </a:solidFill>
                <a:latin typeface="Segoe UI"/>
              </a:rPr>
              <a:t> %</a:t>
            </a:r>
          </a:p>
        </p:txBody>
      </p:sp>
      <p:sp>
        <p:nvSpPr>
          <p:cNvPr id="20" name="TextBox 19"/>
          <p:cNvSpPr txBox="1"/>
          <p:nvPr/>
        </p:nvSpPr>
        <p:spPr>
          <a:xfrm>
            <a:off x="6388455" y="2807208"/>
            <a:ext cx="2179243" cy="411480"/>
          </a:xfrm>
          <a:prstGeom prst="rect">
            <a:avLst/>
          </a:prstGeom>
          <a:noFill/>
        </p:spPr>
        <p:txBody>
          <a:bodyPr wrap="square" lIns="0" rIns="0" tIns="0" bIns="0" anchor="t">
            <a:spAutoFit/>
          </a:bodyPr>
          <a:lstStyle/>
          <a:p>
            <a:pPr algn="l">
              <a:spcAft>
                <a:spcPts val="0"/>
              </a:spcAft>
            </a:pPr>
            <a:r>
              <a:rPr sz="1000" b="0" i="0">
                <a:solidFill>
                  <a:srgbClr val="52514E"/>
                </a:solidFill>
                <a:latin typeface="Segoe UI"/>
              </a:rPr>
              <a:t>53.5 → 51.4 s/PCU, HCM control delay</a:t>
            </a:r>
          </a:p>
        </p:txBody>
      </p:sp>
      <p:sp>
        <p:nvSpPr>
          <p:cNvPr id="21" name="Rounded Rectangle 20"/>
          <p:cNvSpPr/>
          <p:nvPr/>
        </p:nvSpPr>
        <p:spPr>
          <a:xfrm>
            <a:off x="8951747" y="1938528"/>
            <a:ext cx="2581579" cy="1371600"/>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51747" y="1938528"/>
            <a:ext cx="40640" cy="137160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52915" y="2084832"/>
            <a:ext cx="2179243" cy="201168"/>
          </a:xfrm>
          <a:prstGeom prst="rect">
            <a:avLst/>
          </a:prstGeom>
          <a:noFill/>
        </p:spPr>
        <p:txBody>
          <a:bodyPr wrap="square" lIns="0" rIns="0" tIns="0" bIns="0" anchor="t">
            <a:spAutoFit/>
          </a:bodyPr>
          <a:lstStyle/>
          <a:p>
            <a:pPr algn="l">
              <a:spcAft>
                <a:spcPts val="0"/>
              </a:spcAft>
            </a:pPr>
            <a:r>
              <a:rPr sz="900" b="1" i="0">
                <a:solidFill>
                  <a:srgbClr val="898781"/>
                </a:solidFill>
                <a:latin typeface="Segoe UI"/>
              </a:rPr>
              <a:t>EVIDENCE PRODUCED</a:t>
            </a:r>
          </a:p>
        </p:txBody>
      </p:sp>
      <p:sp>
        <p:nvSpPr>
          <p:cNvPr id="24" name="TextBox 23"/>
          <p:cNvSpPr txBox="1"/>
          <p:nvPr/>
        </p:nvSpPr>
        <p:spPr>
          <a:xfrm>
            <a:off x="9152915" y="2322576"/>
            <a:ext cx="2179243" cy="457200"/>
          </a:xfrm>
          <a:prstGeom prst="rect">
            <a:avLst/>
          </a:prstGeom>
          <a:noFill/>
        </p:spPr>
        <p:txBody>
          <a:bodyPr wrap="square" lIns="0" rIns="0" tIns="0" bIns="0" anchor="t">
            <a:spAutoFit/>
          </a:bodyPr>
          <a:lstStyle/>
          <a:p>
            <a:pPr algn="l">
              <a:spcAft>
                <a:spcPts val="0"/>
              </a:spcAft>
            </a:pPr>
            <a:r>
              <a:rPr sz="2700" b="1" i="0">
                <a:solidFill>
                  <a:srgbClr val="EDA100"/>
                </a:solidFill>
                <a:latin typeface="Segoe UI"/>
              </a:rPr>
              <a:t>31</a:t>
            </a:r>
            <a:r>
              <a:rPr sz="1200" b="1" i="0">
                <a:solidFill>
                  <a:srgbClr val="EDA100"/>
                </a:solidFill>
                <a:latin typeface="Segoe UI"/>
              </a:rPr>
              <a:t> alerts</a:t>
            </a:r>
          </a:p>
        </p:txBody>
      </p:sp>
      <p:sp>
        <p:nvSpPr>
          <p:cNvPr id="25" name="TextBox 24"/>
          <p:cNvSpPr txBox="1"/>
          <p:nvPr/>
        </p:nvSpPr>
        <p:spPr>
          <a:xfrm>
            <a:off x="9152915" y="2807208"/>
            <a:ext cx="2179243" cy="411480"/>
          </a:xfrm>
          <a:prstGeom prst="rect">
            <a:avLst/>
          </a:prstGeom>
          <a:noFill/>
        </p:spPr>
        <p:txBody>
          <a:bodyPr wrap="square" lIns="0" rIns="0" tIns="0" bIns="0" anchor="t">
            <a:spAutoFit/>
          </a:bodyPr>
          <a:lstStyle/>
          <a:p>
            <a:pPr algn="l">
              <a:spcAft>
                <a:spcPts val="0"/>
              </a:spcAft>
            </a:pPr>
            <a:r>
              <a:rPr sz="1000" b="0" i="0">
                <a:solidFill>
                  <a:srgbClr val="52514E"/>
                </a:solidFill>
                <a:latin typeface="Segoe UI"/>
              </a:rPr>
              <a:t>plus 21 zone forecasts with prediction intervals</a:t>
            </a:r>
          </a:p>
        </p:txBody>
      </p:sp>
      <p:sp>
        <p:nvSpPr>
          <p:cNvPr id="26" name="Rectangle 25"/>
          <p:cNvSpPr/>
          <p:nvPr/>
        </p:nvSpPr>
        <p:spPr>
          <a:xfrm>
            <a:off x="658368" y="3566160"/>
            <a:ext cx="6583680" cy="310896"/>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630168"/>
            <a:ext cx="310896" cy="310896"/>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a:t>
            </a:r>
          </a:p>
        </p:txBody>
      </p:sp>
      <p:sp>
        <p:nvSpPr>
          <p:cNvPr id="28" name="TextBox 27"/>
          <p:cNvSpPr txBox="1"/>
          <p:nvPr/>
        </p:nvSpPr>
        <p:spPr>
          <a:xfrm>
            <a:off x="1188720" y="3630168"/>
            <a:ext cx="2688336" cy="310896"/>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Site</a:t>
            </a:r>
          </a:p>
        </p:txBody>
      </p:sp>
      <p:sp>
        <p:nvSpPr>
          <p:cNvPr id="29" name="TextBox 28"/>
          <p:cNvSpPr txBox="1"/>
          <p:nvPr/>
        </p:nvSpPr>
        <p:spPr>
          <a:xfrm>
            <a:off x="4023360" y="3630168"/>
            <a:ext cx="950976" cy="310896"/>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Mode</a:t>
            </a:r>
          </a:p>
        </p:txBody>
      </p:sp>
      <p:sp>
        <p:nvSpPr>
          <p:cNvPr id="30" name="TextBox 29"/>
          <p:cNvSpPr txBox="1"/>
          <p:nvPr/>
        </p:nvSpPr>
        <p:spPr>
          <a:xfrm>
            <a:off x="5120640" y="3630168"/>
            <a:ext cx="1042416" cy="310896"/>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Congestion</a:t>
            </a:r>
          </a:p>
        </p:txBody>
      </p:sp>
      <p:sp>
        <p:nvSpPr>
          <p:cNvPr id="31" name="TextBox 30"/>
          <p:cNvSpPr txBox="1"/>
          <p:nvPr/>
        </p:nvSpPr>
        <p:spPr>
          <a:xfrm>
            <a:off x="6309360" y="3630168"/>
            <a:ext cx="859536" cy="310896"/>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Saturated</a:t>
            </a:r>
          </a:p>
        </p:txBody>
      </p:sp>
      <p:sp>
        <p:nvSpPr>
          <p:cNvPr id="32" name="Rectangle 31"/>
          <p:cNvSpPr/>
          <p:nvPr/>
        </p:nvSpPr>
        <p:spPr>
          <a:xfrm>
            <a:off x="658368" y="3877056"/>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3877056"/>
            <a:ext cx="6583680" cy="310896"/>
          </a:xfrm>
          <a:prstGeom prst="rect">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941064"/>
            <a:ext cx="310896" cy="310896"/>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1</a:t>
            </a:r>
          </a:p>
        </p:txBody>
      </p:sp>
      <p:sp>
        <p:nvSpPr>
          <p:cNvPr id="35" name="TextBox 34"/>
          <p:cNvSpPr txBox="1"/>
          <p:nvPr/>
        </p:nvSpPr>
        <p:spPr>
          <a:xfrm>
            <a:off x="1188720" y="3941064"/>
            <a:ext cx="268833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Mahidharpura – Diamond Mkt</a:t>
            </a:r>
          </a:p>
        </p:txBody>
      </p:sp>
      <p:sp>
        <p:nvSpPr>
          <p:cNvPr id="36" name="TextBox 35"/>
          <p:cNvSpPr txBox="1"/>
          <p:nvPr/>
        </p:nvSpPr>
        <p:spPr>
          <a:xfrm>
            <a:off x="4023360" y="3941064"/>
            <a:ext cx="95097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area</a:t>
            </a:r>
          </a:p>
        </p:txBody>
      </p:sp>
      <p:sp>
        <p:nvSpPr>
          <p:cNvPr id="37" name="TextBox 36"/>
          <p:cNvSpPr txBox="1"/>
          <p:nvPr/>
        </p:nvSpPr>
        <p:spPr>
          <a:xfrm>
            <a:off x="5120640" y="3941064"/>
            <a:ext cx="104241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0.939</a:t>
            </a:r>
          </a:p>
        </p:txBody>
      </p:sp>
      <p:sp>
        <p:nvSpPr>
          <p:cNvPr id="38" name="TextBox 37"/>
          <p:cNvSpPr txBox="1"/>
          <p:nvPr/>
        </p:nvSpPr>
        <p:spPr>
          <a:xfrm>
            <a:off x="6309360" y="3941064"/>
            <a:ext cx="85953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452 / 453</a:t>
            </a:r>
          </a:p>
        </p:txBody>
      </p:sp>
      <p:sp>
        <p:nvSpPr>
          <p:cNvPr id="39" name="Rectangle 38"/>
          <p:cNvSpPr/>
          <p:nvPr/>
        </p:nvSpPr>
        <p:spPr>
          <a:xfrm>
            <a:off x="658368" y="4187952"/>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251960"/>
            <a:ext cx="310896" cy="310896"/>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2</a:t>
            </a:r>
          </a:p>
        </p:txBody>
      </p:sp>
      <p:sp>
        <p:nvSpPr>
          <p:cNvPr id="41" name="TextBox 40"/>
          <p:cNvSpPr txBox="1"/>
          <p:nvPr/>
        </p:nvSpPr>
        <p:spPr>
          <a:xfrm>
            <a:off x="1188720" y="4251960"/>
            <a:ext cx="268833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Gopi Talav Gate</a:t>
            </a:r>
          </a:p>
        </p:txBody>
      </p:sp>
      <p:sp>
        <p:nvSpPr>
          <p:cNvPr id="42" name="TextBox 41"/>
          <p:cNvSpPr txBox="1"/>
          <p:nvPr/>
        </p:nvSpPr>
        <p:spPr>
          <a:xfrm>
            <a:off x="4023360" y="4251960"/>
            <a:ext cx="95097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area</a:t>
            </a:r>
          </a:p>
        </p:txBody>
      </p:sp>
      <p:sp>
        <p:nvSpPr>
          <p:cNvPr id="43" name="TextBox 42"/>
          <p:cNvSpPr txBox="1"/>
          <p:nvPr/>
        </p:nvSpPr>
        <p:spPr>
          <a:xfrm>
            <a:off x="5120640" y="4251960"/>
            <a:ext cx="104241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0.749</a:t>
            </a:r>
          </a:p>
        </p:txBody>
      </p:sp>
      <p:sp>
        <p:nvSpPr>
          <p:cNvPr id="44" name="TextBox 43"/>
          <p:cNvSpPr txBox="1"/>
          <p:nvPr/>
        </p:nvSpPr>
        <p:spPr>
          <a:xfrm>
            <a:off x="6309360" y="4251960"/>
            <a:ext cx="85953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167 / 456</a:t>
            </a:r>
          </a:p>
        </p:txBody>
      </p:sp>
      <p:sp>
        <p:nvSpPr>
          <p:cNvPr id="45" name="Rectangle 44"/>
          <p:cNvSpPr/>
          <p:nvPr/>
        </p:nvSpPr>
        <p:spPr>
          <a:xfrm>
            <a:off x="658368" y="4498848"/>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562856"/>
            <a:ext cx="310896" cy="310896"/>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3</a:t>
            </a:r>
          </a:p>
        </p:txBody>
      </p:sp>
      <p:sp>
        <p:nvSpPr>
          <p:cNvPr id="47" name="TextBox 46"/>
          <p:cNvSpPr txBox="1"/>
          <p:nvPr/>
        </p:nvSpPr>
        <p:spPr>
          <a:xfrm>
            <a:off x="1188720" y="4562856"/>
            <a:ext cx="268833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Central Bus Depo</a:t>
            </a:r>
          </a:p>
        </p:txBody>
      </p:sp>
      <p:sp>
        <p:nvSpPr>
          <p:cNvPr id="48" name="TextBox 47"/>
          <p:cNvSpPr txBox="1"/>
          <p:nvPr/>
        </p:nvSpPr>
        <p:spPr>
          <a:xfrm>
            <a:off x="4023360" y="4562856"/>
            <a:ext cx="95097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area</a:t>
            </a:r>
          </a:p>
        </p:txBody>
      </p:sp>
      <p:sp>
        <p:nvSpPr>
          <p:cNvPr id="49" name="TextBox 48"/>
          <p:cNvSpPr txBox="1"/>
          <p:nvPr/>
        </p:nvSpPr>
        <p:spPr>
          <a:xfrm>
            <a:off x="5120640" y="4562856"/>
            <a:ext cx="104241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0.483</a:t>
            </a:r>
          </a:p>
        </p:txBody>
      </p:sp>
      <p:sp>
        <p:nvSpPr>
          <p:cNvPr id="50" name="TextBox 49"/>
          <p:cNvSpPr txBox="1"/>
          <p:nvPr/>
        </p:nvSpPr>
        <p:spPr>
          <a:xfrm>
            <a:off x="6309360" y="4562856"/>
            <a:ext cx="85953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213 / 450</a:t>
            </a:r>
          </a:p>
        </p:txBody>
      </p:sp>
      <p:sp>
        <p:nvSpPr>
          <p:cNvPr id="51" name="Rectangle 50"/>
          <p:cNvSpPr/>
          <p:nvPr/>
        </p:nvSpPr>
        <p:spPr>
          <a:xfrm>
            <a:off x="658368" y="4809744"/>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4873752"/>
            <a:ext cx="310896" cy="310896"/>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4</a:t>
            </a:r>
          </a:p>
        </p:txBody>
      </p:sp>
      <p:sp>
        <p:nvSpPr>
          <p:cNvPr id="53" name="TextBox 52"/>
          <p:cNvSpPr txBox="1"/>
          <p:nvPr/>
        </p:nvSpPr>
        <p:spPr>
          <a:xfrm>
            <a:off x="1188720" y="4873752"/>
            <a:ext cx="268833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Rokadiya Hanuman</a:t>
            </a:r>
          </a:p>
        </p:txBody>
      </p:sp>
      <p:sp>
        <p:nvSpPr>
          <p:cNvPr id="54" name="TextBox 53"/>
          <p:cNvSpPr txBox="1"/>
          <p:nvPr/>
        </p:nvSpPr>
        <p:spPr>
          <a:xfrm>
            <a:off x="4023360" y="4873752"/>
            <a:ext cx="95097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junction</a:t>
            </a:r>
          </a:p>
        </p:txBody>
      </p:sp>
      <p:sp>
        <p:nvSpPr>
          <p:cNvPr id="55" name="TextBox 54"/>
          <p:cNvSpPr txBox="1"/>
          <p:nvPr/>
        </p:nvSpPr>
        <p:spPr>
          <a:xfrm>
            <a:off x="5120640" y="4873752"/>
            <a:ext cx="104241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0.437</a:t>
            </a:r>
          </a:p>
        </p:txBody>
      </p:sp>
      <p:sp>
        <p:nvSpPr>
          <p:cNvPr id="56" name="TextBox 55"/>
          <p:cNvSpPr txBox="1"/>
          <p:nvPr/>
        </p:nvSpPr>
        <p:spPr>
          <a:xfrm>
            <a:off x="6309360" y="4873752"/>
            <a:ext cx="85953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 / 244</a:t>
            </a:r>
          </a:p>
        </p:txBody>
      </p:sp>
      <p:sp>
        <p:nvSpPr>
          <p:cNvPr id="57" name="Rectangle 56"/>
          <p:cNvSpPr/>
          <p:nvPr/>
        </p:nvSpPr>
        <p:spPr>
          <a:xfrm>
            <a:off x="658368" y="5120640"/>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1520" y="5184648"/>
            <a:ext cx="310896" cy="310896"/>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5</a:t>
            </a:r>
          </a:p>
        </p:txBody>
      </p:sp>
      <p:sp>
        <p:nvSpPr>
          <p:cNvPr id="59" name="TextBox 58"/>
          <p:cNvSpPr txBox="1"/>
          <p:nvPr/>
        </p:nvSpPr>
        <p:spPr>
          <a:xfrm>
            <a:off x="1188720" y="5184648"/>
            <a:ext cx="268833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Chauta Bazaar</a:t>
            </a:r>
          </a:p>
        </p:txBody>
      </p:sp>
      <p:sp>
        <p:nvSpPr>
          <p:cNvPr id="60" name="TextBox 59"/>
          <p:cNvSpPr txBox="1"/>
          <p:nvPr/>
        </p:nvSpPr>
        <p:spPr>
          <a:xfrm>
            <a:off x="4023360" y="5184648"/>
            <a:ext cx="950976" cy="310896"/>
          </a:xfrm>
          <a:prstGeom prst="rect">
            <a:avLst/>
          </a:prstGeom>
          <a:noFill/>
        </p:spPr>
        <p:txBody>
          <a:bodyPr wrap="square" lIns="0" rIns="0" tIns="0" bIns="0" anchor="ctr">
            <a:spAutoFit/>
          </a:bodyPr>
          <a:lstStyle/>
          <a:p>
            <a:pPr algn="l">
              <a:spcAft>
                <a:spcPts val="0"/>
              </a:spcAft>
            </a:pPr>
            <a:r>
              <a:rPr sz="1100" b="0" i="0">
                <a:solidFill>
                  <a:srgbClr val="0B0B0B"/>
                </a:solidFill>
                <a:latin typeface="Segoe UI"/>
              </a:rPr>
              <a:t>area</a:t>
            </a:r>
          </a:p>
        </p:txBody>
      </p:sp>
      <p:sp>
        <p:nvSpPr>
          <p:cNvPr id="61" name="TextBox 60"/>
          <p:cNvSpPr txBox="1"/>
          <p:nvPr/>
        </p:nvSpPr>
        <p:spPr>
          <a:xfrm>
            <a:off x="5120640" y="5184648"/>
            <a:ext cx="104241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0.205</a:t>
            </a:r>
          </a:p>
        </p:txBody>
      </p:sp>
      <p:sp>
        <p:nvSpPr>
          <p:cNvPr id="62" name="TextBox 61"/>
          <p:cNvSpPr txBox="1"/>
          <p:nvPr/>
        </p:nvSpPr>
        <p:spPr>
          <a:xfrm>
            <a:off x="6309360" y="5184648"/>
            <a:ext cx="859536" cy="310896"/>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4 / 453</a:t>
            </a:r>
          </a:p>
        </p:txBody>
      </p:sp>
      <p:sp>
        <p:nvSpPr>
          <p:cNvPr id="63" name="Rectangle 62"/>
          <p:cNvSpPr/>
          <p:nvPr/>
        </p:nvSpPr>
        <p:spPr>
          <a:xfrm>
            <a:off x="658368" y="5431536"/>
            <a:ext cx="658368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7808" y="3566160"/>
            <a:ext cx="4114800" cy="274320"/>
          </a:xfrm>
          <a:prstGeom prst="rect">
            <a:avLst/>
          </a:prstGeom>
          <a:noFill/>
        </p:spPr>
        <p:txBody>
          <a:bodyPr wrap="square" lIns="0" rIns="0" tIns="0" bIns="0" anchor="t">
            <a:spAutoFit/>
          </a:bodyPr>
          <a:lstStyle/>
          <a:p>
            <a:pPr algn="l">
              <a:spcAft>
                <a:spcPts val="0"/>
              </a:spcAft>
            </a:pPr>
            <a:r>
              <a:rPr sz="950" b="1" i="0">
                <a:solidFill>
                  <a:srgbClr val="898781"/>
                </a:solidFill>
                <a:latin typeface="Segoe UI"/>
              </a:rPr>
              <a:t>TWO INDEPENDENT CHECKS</a:t>
            </a:r>
          </a:p>
        </p:txBody>
      </p:sp>
      <p:sp>
        <p:nvSpPr>
          <p:cNvPr id="65" name="TextBox 64"/>
          <p:cNvSpPr txBox="1"/>
          <p:nvPr/>
        </p:nvSpPr>
        <p:spPr>
          <a:xfrm>
            <a:off x="7607808" y="3840480"/>
            <a:ext cx="4114800" cy="365760"/>
          </a:xfrm>
          <a:prstGeom prst="rect">
            <a:avLst/>
          </a:prstGeom>
          <a:noFill/>
        </p:spPr>
        <p:txBody>
          <a:bodyPr wrap="square" lIns="0" rIns="0" tIns="0" bIns="0" anchor="t">
            <a:spAutoFit/>
          </a:bodyPr>
          <a:lstStyle/>
          <a:p>
            <a:pPr algn="l">
              <a:spcAft>
                <a:spcPts val="900"/>
              </a:spcAft>
            </a:pPr>
            <a:r>
              <a:rPr sz="1150" b="1" i="0">
                <a:solidFill>
                  <a:srgbClr val="2A78D6"/>
                </a:solidFill>
                <a:latin typeface="Segoe UI"/>
              </a:rPr>
              <a:t>▪  </a:t>
            </a:r>
            <a:r>
              <a:rPr sz="1150" b="1" i="0">
                <a:solidFill>
                  <a:srgbClr val="0B0B0B"/>
                </a:solidFill>
                <a:latin typeface="Segoe UI"/>
              </a:rPr>
              <a:t>Cycle sweep. </a:t>
            </a:r>
            <a:r>
              <a:rPr sz="1150" b="0" i="0">
                <a:solidFill>
                  <a:srgbClr val="52514E"/>
                </a:solidFill>
                <a:latin typeface="Segoe UI"/>
              </a:rPr>
              <a:t>Empirical delay minimum lands at 130 s against Webster's closed form of 135.6 s.</a:t>
            </a:r>
          </a:p>
          <a:p>
            <a:pPr>
              <a:spcAft>
                <a:spcPts val="900"/>
              </a:spcAft>
            </a:pPr>
            <a:r>
              <a:rPr sz="1150" b="1" i="0">
                <a:solidFill>
                  <a:srgbClr val="2A78D6"/>
                </a:solidFill>
                <a:latin typeface="Segoe UI"/>
              </a:rPr>
              <a:t>▪  </a:t>
            </a:r>
            <a:r>
              <a:rPr sz="1150" b="1" i="0">
                <a:solidFill>
                  <a:srgbClr val="0B0B0B"/>
                </a:solidFill>
                <a:latin typeface="Segoe UI"/>
              </a:rPr>
              <a:t>Equal saturation. </a:t>
            </a:r>
            <a:r>
              <a:rPr sz="1150" b="0" i="0">
                <a:solidFill>
                  <a:srgbClr val="52514E"/>
                </a:solidFill>
                <a:latin typeface="Segoe UI"/>
              </a:rPr>
              <a:t>The optimal plan equalises degree of saturation across approaches (0.929 / 0.929) — the known optimality condition.</a:t>
            </a:r>
          </a:p>
        </p:txBody>
      </p:sp>
      <p:sp>
        <p:nvSpPr>
          <p:cNvPr id="66" name="TextBox 65"/>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67" name="TextBox 66"/>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RESULTS  ·  FLUID</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Max-pressure, validated on real signals</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Replaying max-pressure against what each real fixed-time signal actually did.</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6675120" cy="384048"/>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02536"/>
            <a:ext cx="2596896" cy="384048"/>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Intersection</a:t>
            </a:r>
          </a:p>
        </p:txBody>
      </p:sp>
      <p:sp>
        <p:nvSpPr>
          <p:cNvPr id="8" name="TextBox 7"/>
          <p:cNvSpPr txBox="1"/>
          <p:nvPr/>
        </p:nvSpPr>
        <p:spPr>
          <a:xfrm>
            <a:off x="3474720" y="2002536"/>
            <a:ext cx="768096" cy="384048"/>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Cycle</a:t>
            </a:r>
          </a:p>
        </p:txBody>
      </p:sp>
      <p:sp>
        <p:nvSpPr>
          <p:cNvPr id="9" name="TextBox 8"/>
          <p:cNvSpPr txBox="1"/>
          <p:nvPr/>
        </p:nvSpPr>
        <p:spPr>
          <a:xfrm>
            <a:off x="4389120" y="2002536"/>
            <a:ext cx="1865376" cy="384048"/>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Real signal: green
with nothing to relieve</a:t>
            </a:r>
          </a:p>
        </p:txBody>
      </p:sp>
      <p:sp>
        <p:nvSpPr>
          <p:cNvPr id="10" name="TextBox 9"/>
          <p:cNvSpPr txBox="1"/>
          <p:nvPr/>
        </p:nvSpPr>
        <p:spPr>
          <a:xfrm>
            <a:off x="6400800" y="2002536"/>
            <a:ext cx="859536" cy="384048"/>
          </a:xfrm>
          <a:prstGeom prst="rect">
            <a:avLst/>
          </a:prstGeom>
          <a:noFill/>
        </p:spPr>
        <p:txBody>
          <a:bodyPr wrap="square" lIns="0" rIns="0" tIns="0" bIns="0" anchor="ctr">
            <a:spAutoFit/>
          </a:bodyPr>
          <a:lstStyle/>
          <a:p>
            <a:pPr algn="l">
              <a:spcAft>
                <a:spcPts val="0"/>
              </a:spcAft>
            </a:pPr>
            <a:r>
              <a:rPr sz="980" b="1" i="0">
                <a:solidFill>
                  <a:srgbClr val="898781"/>
                </a:solidFill>
                <a:latin typeface="Segoe UI"/>
              </a:rPr>
              <a:t>Max-pressure</a:t>
            </a:r>
          </a:p>
        </p:txBody>
      </p:sp>
      <p:sp>
        <p:nvSpPr>
          <p:cNvPr id="11" name="Rectangle 10"/>
          <p:cNvSpPr/>
          <p:nvPr/>
        </p:nvSpPr>
        <p:spPr>
          <a:xfrm>
            <a:off x="658368" y="2322576"/>
            <a:ext cx="66751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86584"/>
            <a:ext cx="2596896" cy="384048"/>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FI  (4-way, 3-phase)</a:t>
            </a:r>
          </a:p>
        </p:txBody>
      </p:sp>
      <p:sp>
        <p:nvSpPr>
          <p:cNvPr id="13" name="TextBox 12"/>
          <p:cNvSpPr txBox="1"/>
          <p:nvPr/>
        </p:nvSpPr>
        <p:spPr>
          <a:xfrm>
            <a:off x="3474720" y="2386584"/>
            <a:ext cx="76809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96 s</a:t>
            </a:r>
          </a:p>
        </p:txBody>
      </p:sp>
      <p:sp>
        <p:nvSpPr>
          <p:cNvPr id="14" name="TextBox 13"/>
          <p:cNvSpPr txBox="1"/>
          <p:nvPr/>
        </p:nvSpPr>
        <p:spPr>
          <a:xfrm>
            <a:off x="4389120" y="2386584"/>
            <a:ext cx="186537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41.1%</a:t>
            </a:r>
          </a:p>
        </p:txBody>
      </p:sp>
      <p:sp>
        <p:nvSpPr>
          <p:cNvPr id="15" name="TextBox 14"/>
          <p:cNvSpPr txBox="1"/>
          <p:nvPr/>
        </p:nvSpPr>
        <p:spPr>
          <a:xfrm>
            <a:off x="6400800" y="2386584"/>
            <a:ext cx="85953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1.5%</a:t>
            </a:r>
          </a:p>
        </p:txBody>
      </p:sp>
      <p:sp>
        <p:nvSpPr>
          <p:cNvPr id="16" name="Rectangle 15"/>
          <p:cNvSpPr/>
          <p:nvPr/>
        </p:nvSpPr>
        <p:spPr>
          <a:xfrm>
            <a:off x="658368" y="2706624"/>
            <a:ext cx="66751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770632"/>
            <a:ext cx="2596896" cy="384048"/>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FIDRT  (dedicated right turns)</a:t>
            </a:r>
          </a:p>
        </p:txBody>
      </p:sp>
      <p:sp>
        <p:nvSpPr>
          <p:cNvPr id="18" name="TextBox 17"/>
          <p:cNvSpPr txBox="1"/>
          <p:nvPr/>
        </p:nvSpPr>
        <p:spPr>
          <a:xfrm>
            <a:off x="3474720" y="2770632"/>
            <a:ext cx="76809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123 s</a:t>
            </a:r>
          </a:p>
        </p:txBody>
      </p:sp>
      <p:sp>
        <p:nvSpPr>
          <p:cNvPr id="19" name="TextBox 18"/>
          <p:cNvSpPr txBox="1"/>
          <p:nvPr/>
        </p:nvSpPr>
        <p:spPr>
          <a:xfrm>
            <a:off x="4389120" y="2770632"/>
            <a:ext cx="186537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66.3%</a:t>
            </a:r>
          </a:p>
        </p:txBody>
      </p:sp>
      <p:sp>
        <p:nvSpPr>
          <p:cNvPr id="20" name="TextBox 19"/>
          <p:cNvSpPr txBox="1"/>
          <p:nvPr/>
        </p:nvSpPr>
        <p:spPr>
          <a:xfrm>
            <a:off x="6400800" y="2770632"/>
            <a:ext cx="85953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2.3%</a:t>
            </a:r>
          </a:p>
        </p:txBody>
      </p:sp>
      <p:sp>
        <p:nvSpPr>
          <p:cNvPr id="21" name="Rectangle 20"/>
          <p:cNvSpPr/>
          <p:nvPr/>
        </p:nvSpPr>
        <p:spPr>
          <a:xfrm>
            <a:off x="658368" y="3090672"/>
            <a:ext cx="66751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154680"/>
            <a:ext cx="2596896" cy="384048"/>
          </a:xfrm>
          <a:prstGeom prst="rect">
            <a:avLst/>
          </a:prstGeom>
          <a:noFill/>
        </p:spPr>
        <p:txBody>
          <a:bodyPr wrap="square" lIns="0" rIns="0" tIns="0" bIns="0" anchor="ctr">
            <a:spAutoFit/>
          </a:bodyPr>
          <a:lstStyle/>
          <a:p>
            <a:pPr algn="l">
              <a:spcAft>
                <a:spcPts val="0"/>
              </a:spcAft>
            </a:pPr>
            <a:r>
              <a:rPr sz="1100" b="1" i="0">
                <a:solidFill>
                  <a:srgbClr val="0B0B0B"/>
                </a:solidFill>
                <a:latin typeface="Segoe UI"/>
              </a:rPr>
              <a:t>TI  (T-intersection)</a:t>
            </a:r>
          </a:p>
        </p:txBody>
      </p:sp>
      <p:sp>
        <p:nvSpPr>
          <p:cNvPr id="23" name="TextBox 22"/>
          <p:cNvSpPr txBox="1"/>
          <p:nvPr/>
        </p:nvSpPr>
        <p:spPr>
          <a:xfrm>
            <a:off x="3474720" y="3154680"/>
            <a:ext cx="76809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71 s</a:t>
            </a:r>
          </a:p>
        </p:txBody>
      </p:sp>
      <p:sp>
        <p:nvSpPr>
          <p:cNvPr id="24" name="TextBox 23"/>
          <p:cNvSpPr txBox="1"/>
          <p:nvPr/>
        </p:nvSpPr>
        <p:spPr>
          <a:xfrm>
            <a:off x="4389120" y="3154680"/>
            <a:ext cx="186537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46.6%</a:t>
            </a:r>
          </a:p>
        </p:txBody>
      </p:sp>
      <p:sp>
        <p:nvSpPr>
          <p:cNvPr id="25" name="TextBox 24"/>
          <p:cNvSpPr txBox="1"/>
          <p:nvPr/>
        </p:nvSpPr>
        <p:spPr>
          <a:xfrm>
            <a:off x="6400800" y="3154680"/>
            <a:ext cx="859536" cy="384048"/>
          </a:xfrm>
          <a:prstGeom prst="rect">
            <a:avLst/>
          </a:prstGeom>
          <a:noFill/>
        </p:spPr>
        <p:txBody>
          <a:bodyPr wrap="square" lIns="0" rIns="0" tIns="0" bIns="0" anchor="ctr">
            <a:spAutoFit/>
          </a:bodyPr>
          <a:lstStyle/>
          <a:p>
            <a:pPr algn="r">
              <a:spcAft>
                <a:spcPts val="0"/>
              </a:spcAft>
            </a:pPr>
            <a:r>
              <a:rPr sz="1100" b="0" i="0">
                <a:solidFill>
                  <a:srgbClr val="0B0B0B"/>
                </a:solidFill>
                <a:latin typeface="Segoe UI"/>
              </a:rPr>
              <a:t>16.0%</a:t>
            </a:r>
          </a:p>
        </p:txBody>
      </p:sp>
      <p:sp>
        <p:nvSpPr>
          <p:cNvPr id="26" name="Rectangle 25"/>
          <p:cNvSpPr/>
          <p:nvPr/>
        </p:nvSpPr>
        <p:spPr>
          <a:xfrm>
            <a:off x="658368" y="3474720"/>
            <a:ext cx="667512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99248" y="1938528"/>
            <a:ext cx="4023360" cy="274320"/>
          </a:xfrm>
          <a:prstGeom prst="rect">
            <a:avLst/>
          </a:prstGeom>
          <a:noFill/>
        </p:spPr>
        <p:txBody>
          <a:bodyPr wrap="square" lIns="0" rIns="0" tIns="0" bIns="0" anchor="t">
            <a:spAutoFit/>
          </a:bodyPr>
          <a:lstStyle/>
          <a:p>
            <a:pPr algn="l">
              <a:spcAft>
                <a:spcPts val="0"/>
              </a:spcAft>
            </a:pPr>
            <a:r>
              <a:rPr sz="950" b="1" i="0">
                <a:solidFill>
                  <a:srgbClr val="898781"/>
                </a:solidFill>
                <a:latin typeface="Segoe UI"/>
              </a:rPr>
              <a:t>SIMULATED COUNTERFACTUAL</a:t>
            </a:r>
          </a:p>
        </p:txBody>
      </p:sp>
      <p:sp>
        <p:nvSpPr>
          <p:cNvPr id="28" name="Rectangle 27"/>
          <p:cNvSpPr/>
          <p:nvPr/>
        </p:nvSpPr>
        <p:spPr>
          <a:xfrm>
            <a:off x="7699248" y="2212848"/>
            <a:ext cx="4023360" cy="274320"/>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2276856"/>
            <a:ext cx="1865376" cy="274320"/>
          </a:xfrm>
          <a:prstGeom prst="rect">
            <a:avLst/>
          </a:prstGeom>
          <a:noFill/>
        </p:spPr>
        <p:txBody>
          <a:bodyPr wrap="square" lIns="0" rIns="0" tIns="0" bIns="0" anchor="ctr">
            <a:spAutoFit/>
          </a:bodyPr>
          <a:lstStyle/>
          <a:p>
            <a:pPr algn="l">
              <a:spcAft>
                <a:spcPts val="0"/>
              </a:spcAft>
            </a:pPr>
            <a:r>
              <a:rPr sz="930" b="1" i="0">
                <a:solidFill>
                  <a:srgbClr val="898781"/>
                </a:solidFill>
                <a:latin typeface="Segoe UI"/>
              </a:rPr>
              <a:t>Scenario</a:t>
            </a:r>
          </a:p>
        </p:txBody>
      </p:sp>
      <p:sp>
        <p:nvSpPr>
          <p:cNvPr id="30" name="TextBox 29"/>
          <p:cNvSpPr txBox="1"/>
          <p:nvPr/>
        </p:nvSpPr>
        <p:spPr>
          <a:xfrm>
            <a:off x="9784080" y="2276856"/>
            <a:ext cx="859536" cy="274320"/>
          </a:xfrm>
          <a:prstGeom prst="rect">
            <a:avLst/>
          </a:prstGeom>
          <a:noFill/>
        </p:spPr>
        <p:txBody>
          <a:bodyPr wrap="square" lIns="0" rIns="0" tIns="0" bIns="0" anchor="ctr">
            <a:spAutoFit/>
          </a:bodyPr>
          <a:lstStyle/>
          <a:p>
            <a:pPr algn="l">
              <a:spcAft>
                <a:spcPts val="0"/>
              </a:spcAft>
            </a:pPr>
            <a:r>
              <a:rPr sz="930" b="1" i="0">
                <a:solidFill>
                  <a:srgbClr val="898781"/>
                </a:solidFill>
                <a:latin typeface="Segoe UI"/>
              </a:rPr>
              <a:t>Fixed</a:t>
            </a:r>
          </a:p>
        </p:txBody>
      </p:sp>
      <p:sp>
        <p:nvSpPr>
          <p:cNvPr id="31" name="TextBox 30"/>
          <p:cNvSpPr txBox="1"/>
          <p:nvPr/>
        </p:nvSpPr>
        <p:spPr>
          <a:xfrm>
            <a:off x="10789920" y="2276856"/>
            <a:ext cx="859536" cy="274320"/>
          </a:xfrm>
          <a:prstGeom prst="rect">
            <a:avLst/>
          </a:prstGeom>
          <a:noFill/>
        </p:spPr>
        <p:txBody>
          <a:bodyPr wrap="square" lIns="0" rIns="0" tIns="0" bIns="0" anchor="ctr">
            <a:spAutoFit/>
          </a:bodyPr>
          <a:lstStyle/>
          <a:p>
            <a:pPr algn="l">
              <a:spcAft>
                <a:spcPts val="0"/>
              </a:spcAft>
            </a:pPr>
            <a:r>
              <a:rPr sz="930" b="1" i="0">
                <a:solidFill>
                  <a:srgbClr val="898781"/>
                </a:solidFill>
                <a:latin typeface="Segoe UI"/>
              </a:rPr>
              <a:t>Max-pr.</a:t>
            </a:r>
          </a:p>
        </p:txBody>
      </p:sp>
      <p:sp>
        <p:nvSpPr>
          <p:cNvPr id="32" name="Rectangle 31"/>
          <p:cNvSpPr/>
          <p:nvPr/>
        </p:nvSpPr>
        <p:spPr>
          <a:xfrm>
            <a:off x="7699248" y="2487168"/>
            <a:ext cx="402336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2551176"/>
            <a:ext cx="1865376" cy="274320"/>
          </a:xfrm>
          <a:prstGeom prst="rect">
            <a:avLst/>
          </a:prstGeom>
          <a:noFill/>
        </p:spPr>
        <p:txBody>
          <a:bodyPr wrap="square" lIns="0" rIns="0" tIns="0" bIns="0" anchor="ctr">
            <a:spAutoFit/>
          </a:bodyPr>
          <a:lstStyle/>
          <a:p>
            <a:pPr algn="l">
              <a:spcAft>
                <a:spcPts val="0"/>
              </a:spcAft>
            </a:pPr>
            <a:r>
              <a:rPr sz="1050" b="1" i="0">
                <a:solidFill>
                  <a:srgbClr val="0B0B0B"/>
                </a:solidFill>
                <a:latin typeface="Segoe UI"/>
              </a:rPr>
              <a:t>Steady, balanced</a:t>
            </a:r>
          </a:p>
        </p:txBody>
      </p:sp>
      <p:sp>
        <p:nvSpPr>
          <p:cNvPr id="34" name="TextBox 33"/>
          <p:cNvSpPr txBox="1"/>
          <p:nvPr/>
        </p:nvSpPr>
        <p:spPr>
          <a:xfrm>
            <a:off x="9784080" y="255117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18.6</a:t>
            </a:r>
          </a:p>
        </p:txBody>
      </p:sp>
      <p:sp>
        <p:nvSpPr>
          <p:cNvPr id="35" name="TextBox 34"/>
          <p:cNvSpPr txBox="1"/>
          <p:nvPr/>
        </p:nvSpPr>
        <p:spPr>
          <a:xfrm>
            <a:off x="10789920" y="255117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20.8</a:t>
            </a:r>
          </a:p>
        </p:txBody>
      </p:sp>
      <p:sp>
        <p:nvSpPr>
          <p:cNvPr id="36" name="Rectangle 35"/>
          <p:cNvSpPr/>
          <p:nvPr/>
        </p:nvSpPr>
        <p:spPr>
          <a:xfrm>
            <a:off x="7699248" y="2761488"/>
            <a:ext cx="402336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0" y="2825496"/>
            <a:ext cx="1865376" cy="274320"/>
          </a:xfrm>
          <a:prstGeom prst="rect">
            <a:avLst/>
          </a:prstGeom>
          <a:noFill/>
        </p:spPr>
        <p:txBody>
          <a:bodyPr wrap="square" lIns="0" rIns="0" tIns="0" bIns="0" anchor="ctr">
            <a:spAutoFit/>
          </a:bodyPr>
          <a:lstStyle/>
          <a:p>
            <a:pPr algn="l">
              <a:spcAft>
                <a:spcPts val="0"/>
              </a:spcAft>
            </a:pPr>
            <a:r>
              <a:rPr sz="1050" b="1" i="0">
                <a:solidFill>
                  <a:srgbClr val="0B0B0B"/>
                </a:solidFill>
                <a:latin typeface="Segoe UI"/>
              </a:rPr>
              <a:t>Demand swings</a:t>
            </a:r>
          </a:p>
        </p:txBody>
      </p:sp>
      <p:sp>
        <p:nvSpPr>
          <p:cNvPr id="38" name="TextBox 37"/>
          <p:cNvSpPr txBox="1"/>
          <p:nvPr/>
        </p:nvSpPr>
        <p:spPr>
          <a:xfrm>
            <a:off x="9784080" y="282549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24.5</a:t>
            </a:r>
          </a:p>
        </p:txBody>
      </p:sp>
      <p:sp>
        <p:nvSpPr>
          <p:cNvPr id="39" name="TextBox 38"/>
          <p:cNvSpPr txBox="1"/>
          <p:nvPr/>
        </p:nvSpPr>
        <p:spPr>
          <a:xfrm>
            <a:off x="10789920" y="282549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18.5</a:t>
            </a:r>
          </a:p>
        </p:txBody>
      </p:sp>
      <p:sp>
        <p:nvSpPr>
          <p:cNvPr id="40" name="Rectangle 39"/>
          <p:cNvSpPr/>
          <p:nvPr/>
        </p:nvSpPr>
        <p:spPr>
          <a:xfrm>
            <a:off x="7699248" y="3035808"/>
            <a:ext cx="402336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99248" y="3035808"/>
            <a:ext cx="4023360" cy="274320"/>
          </a:xfrm>
          <a:prstGeom prst="rect">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0" y="3099816"/>
            <a:ext cx="1865376" cy="274320"/>
          </a:xfrm>
          <a:prstGeom prst="rect">
            <a:avLst/>
          </a:prstGeom>
          <a:noFill/>
        </p:spPr>
        <p:txBody>
          <a:bodyPr wrap="square" lIns="0" rIns="0" tIns="0" bIns="0" anchor="ctr">
            <a:spAutoFit/>
          </a:bodyPr>
          <a:lstStyle/>
          <a:p>
            <a:pPr algn="l">
              <a:spcAft>
                <a:spcPts val="0"/>
              </a:spcAft>
            </a:pPr>
            <a:r>
              <a:rPr sz="1050" b="1" i="0">
                <a:solidFill>
                  <a:srgbClr val="0B0B0B"/>
                </a:solidFill>
                <a:latin typeface="Segoe UI"/>
              </a:rPr>
              <a:t>Downstream blockage</a:t>
            </a:r>
          </a:p>
        </p:txBody>
      </p:sp>
      <p:sp>
        <p:nvSpPr>
          <p:cNvPr id="43" name="TextBox 42"/>
          <p:cNvSpPr txBox="1"/>
          <p:nvPr/>
        </p:nvSpPr>
        <p:spPr>
          <a:xfrm>
            <a:off x="9784080" y="309981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150.0</a:t>
            </a:r>
          </a:p>
        </p:txBody>
      </p:sp>
      <p:sp>
        <p:nvSpPr>
          <p:cNvPr id="44" name="TextBox 43"/>
          <p:cNvSpPr txBox="1"/>
          <p:nvPr/>
        </p:nvSpPr>
        <p:spPr>
          <a:xfrm>
            <a:off x="10789920" y="3099816"/>
            <a:ext cx="859536" cy="274320"/>
          </a:xfrm>
          <a:prstGeom prst="rect">
            <a:avLst/>
          </a:prstGeom>
          <a:noFill/>
        </p:spPr>
        <p:txBody>
          <a:bodyPr wrap="square" lIns="0" rIns="0" tIns="0" bIns="0" anchor="ctr">
            <a:spAutoFit/>
          </a:bodyPr>
          <a:lstStyle/>
          <a:p>
            <a:pPr algn="r">
              <a:spcAft>
                <a:spcPts val="0"/>
              </a:spcAft>
            </a:pPr>
            <a:r>
              <a:rPr sz="1050" b="0" i="0">
                <a:solidFill>
                  <a:srgbClr val="0B0B0B"/>
                </a:solidFill>
                <a:latin typeface="Segoe UI"/>
              </a:rPr>
              <a:t>102.9</a:t>
            </a:r>
          </a:p>
        </p:txBody>
      </p:sp>
      <p:sp>
        <p:nvSpPr>
          <p:cNvPr id="45" name="Rectangle 44"/>
          <p:cNvSpPr/>
          <p:nvPr/>
        </p:nvSpPr>
        <p:spPr>
          <a:xfrm>
            <a:off x="7699248" y="3310128"/>
            <a:ext cx="4023360"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8368" y="3813047"/>
            <a:ext cx="10874959" cy="129844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3813047"/>
            <a:ext cx="40640" cy="1298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6" y="3931919"/>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The operator's decision rule — narrower than the literature's enthusiasm suggests</a:t>
            </a:r>
          </a:p>
        </p:txBody>
      </p:sp>
      <p:sp>
        <p:nvSpPr>
          <p:cNvPr id="49" name="TextBox 48"/>
          <p:cNvSpPr txBox="1"/>
          <p:nvPr/>
        </p:nvSpPr>
        <p:spPr>
          <a:xfrm>
            <a:off x="859536" y="4160519"/>
            <a:ext cx="10472623" cy="85953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Max-pressure earns its place when the split of demand moves between approaches, and above all when something downstream backs up (−31% delay, spillback 289 s → 88 s). On steady demand it is the worse choice — it pays an inter-green for a benefit that is not there. A system offering it as a straight upgrade would be selling the wrong thing.</a:t>
            </a:r>
          </a:p>
        </p:txBody>
      </p:sp>
      <p:sp>
        <p:nvSpPr>
          <p:cNvPr id="50" name="TextBox 49"/>
          <p:cNvSpPr txBox="1"/>
          <p:nvPr/>
        </p:nvSpPr>
        <p:spPr>
          <a:xfrm>
            <a:off x="658368" y="5532120"/>
            <a:ext cx="10874959" cy="457200"/>
          </a:xfrm>
          <a:prstGeom prst="rect">
            <a:avLst/>
          </a:prstGeom>
          <a:noFill/>
        </p:spPr>
        <p:txBody>
          <a:bodyPr wrap="square" lIns="0" rIns="0" tIns="0" bIns="0" anchor="t">
            <a:spAutoFit/>
          </a:bodyPr>
          <a:lstStyle/>
          <a:p>
            <a:pPr algn="l">
              <a:spcAft>
                <a:spcPts val="0"/>
              </a:spcAft>
            </a:pPr>
            <a:r>
              <a:rPr sz="1100" b="1" i="0">
                <a:solidFill>
                  <a:srgbClr val="0B0B0B"/>
                </a:solidFill>
                <a:latin typeface="Segoe UI"/>
              </a:rPr>
              <a:t>Deliberately not a delay-reduction claim. </a:t>
            </a:r>
            <a:r>
              <a:rPr sz="1100" b="0" i="0">
                <a:solidFill>
                  <a:srgbClr val="52514E"/>
                </a:solidFill>
                <a:latin typeface="Segoe UI"/>
              </a:rPr>
              <a:t>Had max-pressure actually run, the queues would have evolved differently — that is an observation about the recorded signals, made from the recorded queues. The counterfactual needs the simulator above.</a:t>
            </a:r>
          </a:p>
        </p:txBody>
      </p:sp>
      <p:sp>
        <p:nvSpPr>
          <p:cNvPr id="51" name="TextBox 50"/>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52" name="TextBox 51"/>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INNOVATION AND UNIQUE VALUE PROPOSITION</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Four things this system does that a standard pipeline does not</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572768"/>
            <a:ext cx="10874959" cy="93268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44450" cy="93268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691640"/>
            <a:ext cx="10417759" cy="731520"/>
          </a:xfrm>
          <a:prstGeom prst="rect">
            <a:avLst/>
          </a:prstGeom>
          <a:noFill/>
        </p:spPr>
        <p:txBody>
          <a:bodyPr wrap="square" lIns="0" rIns="0" tIns="0" bIns="0" anchor="t">
            <a:spAutoFit/>
          </a:bodyPr>
          <a:lstStyle/>
          <a:p>
            <a:pPr algn="l">
              <a:spcAft>
                <a:spcPts val="0"/>
              </a:spcAft>
            </a:pPr>
            <a:r>
              <a:rPr sz="1300" b="1" i="0">
                <a:solidFill>
                  <a:srgbClr val="0B0B0B"/>
                </a:solidFill>
                <a:latin typeface="Segoe UI"/>
              </a:rPr>
              <a:t>The observability gate
</a:t>
            </a:r>
            <a:r>
              <a:rPr sz="1100" b="0" i="0">
                <a:solidFill>
                  <a:srgbClr val="52514E"/>
                </a:solidFill>
                <a:latin typeface="Segoe UI"/>
              </a:rPr>
              <a:t>Max-pressure refuses to name a phase when its downstream term is unmeasurable, and returns the weaker answer under its own name — greedy-queue — so a caller cannot present it as max-pressure. The refusal is structural, not a warning label.</a:t>
            </a:r>
          </a:p>
        </p:txBody>
      </p:sp>
      <p:sp>
        <p:nvSpPr>
          <p:cNvPr id="8" name="Rounded Rectangle 7"/>
          <p:cNvSpPr/>
          <p:nvPr/>
        </p:nvSpPr>
        <p:spPr>
          <a:xfrm>
            <a:off x="658368" y="2624328"/>
            <a:ext cx="10874959" cy="93268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624328"/>
            <a:ext cx="44450" cy="93268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743200"/>
            <a:ext cx="10417759" cy="731520"/>
          </a:xfrm>
          <a:prstGeom prst="rect">
            <a:avLst/>
          </a:prstGeom>
          <a:noFill/>
        </p:spPr>
        <p:txBody>
          <a:bodyPr wrap="square" lIns="0" rIns="0" tIns="0" bIns="0" anchor="t">
            <a:spAutoFit/>
          </a:bodyPr>
          <a:lstStyle/>
          <a:p>
            <a:pPr algn="l">
              <a:spcAft>
                <a:spcPts val="0"/>
              </a:spcAft>
            </a:pPr>
            <a:r>
              <a:rPr sz="1300" b="1" i="0">
                <a:solidFill>
                  <a:srgbClr val="0B0B0B"/>
                </a:solidFill>
                <a:latin typeface="Segoe UI"/>
              </a:rPr>
              <a:t>Occlusion-proof measurement
</a:t>
            </a:r>
            <a:r>
              <a:rPr sz="1100" b="0" i="0">
                <a:solidFill>
                  <a:srgbClr val="52514E"/>
                </a:solidFill>
                <a:latin typeface="Segoe UI"/>
              </a:rPr>
              <a:t>A texture-based occupancy index with no notion of an object, so the gridlock that collapses detection cannot invert the ranking. This is the difference between a plausible answer and a correct one.</a:t>
            </a:r>
          </a:p>
        </p:txBody>
      </p:sp>
      <p:sp>
        <p:nvSpPr>
          <p:cNvPr id="11" name="Rounded Rectangle 10"/>
          <p:cNvSpPr/>
          <p:nvPr/>
        </p:nvSpPr>
        <p:spPr>
          <a:xfrm>
            <a:off x="658368" y="3675888"/>
            <a:ext cx="10874959" cy="93268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75888"/>
            <a:ext cx="44450" cy="93268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794760"/>
            <a:ext cx="10417759" cy="731520"/>
          </a:xfrm>
          <a:prstGeom prst="rect">
            <a:avLst/>
          </a:prstGeom>
          <a:noFill/>
        </p:spPr>
        <p:txBody>
          <a:bodyPr wrap="square" lIns="0" rIns="0" tIns="0" bIns="0" anchor="t">
            <a:spAutoFit/>
          </a:bodyPr>
          <a:lstStyle/>
          <a:p>
            <a:pPr algn="l">
              <a:spcAft>
                <a:spcPts val="0"/>
              </a:spcAft>
            </a:pPr>
            <a:r>
              <a:rPr sz="1300" b="1" i="0">
                <a:solidFill>
                  <a:srgbClr val="0B0B0B"/>
                </a:solidFill>
                <a:latin typeface="Segoe UI"/>
              </a:rPr>
              <a:t>Separated measurement from estimation
</a:t>
            </a:r>
            <a:r>
              <a:rPr sz="1100" b="0" i="0">
                <a:solidFill>
                  <a:srgbClr val="52514E"/>
                </a:solidFill>
                <a:latin typeface="Segoe UI"/>
              </a:rPr>
              <a:t>Every figure carrying the uncalibrated pixel scale is marked and banner-flagged; the ranking, level of service and the entire signal comparison are scale-free and unaffected. Every headline result is in the scale-free category.</a:t>
            </a:r>
          </a:p>
        </p:txBody>
      </p:sp>
      <p:sp>
        <p:nvSpPr>
          <p:cNvPr id="14" name="Rounded Rectangle 13"/>
          <p:cNvSpPr/>
          <p:nvPr/>
        </p:nvSpPr>
        <p:spPr>
          <a:xfrm>
            <a:off x="658368" y="4727448"/>
            <a:ext cx="10874959" cy="932688"/>
          </a:xfrm>
          <a:prstGeom prst="roundRect">
            <a:avLst>
              <a:gd name="adj" fmla="val 4000"/>
            </a:avLst>
          </a:prstGeom>
          <a:solidFill>
            <a:srgbClr val="F0EFEC"/>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727448"/>
            <a:ext cx="44450" cy="93268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846320"/>
            <a:ext cx="10417759" cy="731520"/>
          </a:xfrm>
          <a:prstGeom prst="rect">
            <a:avLst/>
          </a:prstGeom>
          <a:noFill/>
        </p:spPr>
        <p:txBody>
          <a:bodyPr wrap="square" lIns="0" rIns="0" tIns="0" bIns="0" anchor="t">
            <a:spAutoFit/>
          </a:bodyPr>
          <a:lstStyle/>
          <a:p>
            <a:pPr algn="l">
              <a:spcAft>
                <a:spcPts val="0"/>
              </a:spcAft>
            </a:pPr>
            <a:r>
              <a:rPr sz="1300" b="1" i="0">
                <a:solidFill>
                  <a:srgbClr val="0B0B0B"/>
                </a:solidFill>
                <a:latin typeface="Segoe UI"/>
              </a:rPr>
              <a:t>Documentation that cannot drift
</a:t>
            </a:r>
            <a:r>
              <a:rPr sz="1100" b="0" i="0">
                <a:solidFill>
                  <a:srgbClr val="52514E"/>
                </a:solidFill>
                <a:latin typeface="Segoe UI"/>
              </a:rPr>
              <a:t>The verification suite recomputes every figure quoted in the README and report, and fails if a number changes in the code but not the docs — or the reverse.</a:t>
            </a:r>
          </a:p>
        </p:txBody>
      </p:sp>
      <p:sp>
        <p:nvSpPr>
          <p:cNvPr id="17" name="TextBox 16"/>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18" name="TextBox 17"/>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CHALLENGES FACED</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Eleven bugs found and fixed — four worth showing</a:t>
            </a:r>
          </a:p>
        </p:txBody>
      </p:sp>
      <p:sp>
        <p:nvSpPr>
          <p:cNvPr id="4" name="TextBox 3"/>
          <p:cNvSpPr txBox="1"/>
          <p:nvPr/>
        </p:nvSpPr>
        <p:spPr>
          <a:xfrm>
            <a:off x="658368" y="1298448"/>
            <a:ext cx="10874959" cy="365760"/>
          </a:xfrm>
          <a:prstGeom prst="rect">
            <a:avLst/>
          </a:prstGeom>
          <a:noFill/>
        </p:spPr>
        <p:txBody>
          <a:bodyPr wrap="square" lIns="0" rIns="0" tIns="0" bIns="0" anchor="t">
            <a:spAutoFit/>
          </a:bodyPr>
          <a:lstStyle/>
          <a:p>
            <a:pPr algn="l">
              <a:spcAft>
                <a:spcPts val="0"/>
              </a:spcAft>
            </a:pPr>
            <a:r>
              <a:rPr sz="1350" b="0" i="0">
                <a:solidFill>
                  <a:srgbClr val="52514E"/>
                </a:solidFill>
                <a:latin typeface="Segoe UI"/>
              </a:rPr>
              <a:t>Each was caught by a check that did not trust the output.</a:t>
            </a:r>
          </a:p>
        </p:txBody>
      </p:sp>
      <p:sp>
        <p:nvSpPr>
          <p:cNvPr id="5" name="Rectangle 4"/>
          <p:cNvSpPr/>
          <p:nvPr/>
        </p:nvSpPr>
        <p:spPr>
          <a:xfrm>
            <a:off x="658368" y="166420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10874959" cy="658368"/>
          </a:xfrm>
          <a:prstGeom prst="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02536"/>
            <a:ext cx="237744" cy="658368"/>
          </a:xfrm>
          <a:prstGeom prst="rect">
            <a:avLst/>
          </a:prstGeom>
          <a:noFill/>
        </p:spPr>
        <p:txBody>
          <a:bodyPr wrap="square" lIns="0" rIns="0" tIns="0" bIns="0" anchor="ctr">
            <a:spAutoFit/>
          </a:bodyPr>
          <a:lstStyle/>
          <a:p>
            <a:pPr algn="l">
              <a:spcAft>
                <a:spcPts val="0"/>
              </a:spcAft>
            </a:pPr>
            <a:r>
              <a:rPr sz="880" b="1" i="0">
                <a:solidFill>
                  <a:srgbClr val="898781"/>
                </a:solidFill>
                <a:latin typeface="Segoe UI"/>
              </a:rPr>
              <a:t>#</a:t>
            </a:r>
          </a:p>
        </p:txBody>
      </p:sp>
      <p:sp>
        <p:nvSpPr>
          <p:cNvPr id="8" name="TextBox 7"/>
          <p:cNvSpPr txBox="1"/>
          <p:nvPr/>
        </p:nvSpPr>
        <p:spPr>
          <a:xfrm>
            <a:off x="1115568" y="2002536"/>
            <a:ext cx="2368296" cy="658368"/>
          </a:xfrm>
          <a:prstGeom prst="rect">
            <a:avLst/>
          </a:prstGeom>
          <a:noFill/>
        </p:spPr>
        <p:txBody>
          <a:bodyPr wrap="square" lIns="0" rIns="0" tIns="0" bIns="0" anchor="ctr">
            <a:spAutoFit/>
          </a:bodyPr>
          <a:lstStyle/>
          <a:p>
            <a:pPr algn="l">
              <a:spcAft>
                <a:spcPts val="0"/>
              </a:spcAft>
            </a:pPr>
            <a:r>
              <a:rPr sz="880" b="1" i="0">
                <a:solidFill>
                  <a:srgbClr val="898781"/>
                </a:solidFill>
                <a:latin typeface="Segoe UI"/>
              </a:rPr>
              <a:t>Symptom</a:t>
            </a:r>
          </a:p>
        </p:txBody>
      </p:sp>
      <p:sp>
        <p:nvSpPr>
          <p:cNvPr id="9" name="TextBox 8"/>
          <p:cNvSpPr txBox="1"/>
          <p:nvPr/>
        </p:nvSpPr>
        <p:spPr>
          <a:xfrm>
            <a:off x="3630168" y="2002536"/>
            <a:ext cx="4014216" cy="658368"/>
          </a:xfrm>
          <a:prstGeom prst="rect">
            <a:avLst/>
          </a:prstGeom>
          <a:noFill/>
        </p:spPr>
        <p:txBody>
          <a:bodyPr wrap="square" lIns="0" rIns="0" tIns="0" bIns="0" anchor="ctr">
            <a:spAutoFit/>
          </a:bodyPr>
          <a:lstStyle/>
          <a:p>
            <a:pPr algn="l">
              <a:spcAft>
                <a:spcPts val="0"/>
              </a:spcAft>
            </a:pPr>
            <a:r>
              <a:rPr sz="880" b="1" i="0">
                <a:solidFill>
                  <a:srgbClr val="898781"/>
                </a:solidFill>
                <a:latin typeface="Segoe UI"/>
              </a:rPr>
              <a:t>Root cause</a:t>
            </a:r>
          </a:p>
        </p:txBody>
      </p:sp>
      <p:sp>
        <p:nvSpPr>
          <p:cNvPr id="10" name="TextBox 9"/>
          <p:cNvSpPr txBox="1"/>
          <p:nvPr/>
        </p:nvSpPr>
        <p:spPr>
          <a:xfrm>
            <a:off x="7790688" y="2002536"/>
            <a:ext cx="3666744" cy="658368"/>
          </a:xfrm>
          <a:prstGeom prst="rect">
            <a:avLst/>
          </a:prstGeom>
          <a:noFill/>
        </p:spPr>
        <p:txBody>
          <a:bodyPr wrap="square" lIns="0" rIns="0" tIns="0" bIns="0" anchor="ctr">
            <a:spAutoFit/>
          </a:bodyPr>
          <a:lstStyle/>
          <a:p>
            <a:pPr algn="l">
              <a:spcAft>
                <a:spcPts val="0"/>
              </a:spcAft>
            </a:pPr>
            <a:r>
              <a:rPr sz="880" b="1" i="0">
                <a:solidFill>
                  <a:srgbClr val="898781"/>
                </a:solidFill>
                <a:latin typeface="Segoe UI"/>
              </a:rPr>
              <a:t>How it was caught</a:t>
            </a:r>
          </a:p>
        </p:txBody>
      </p:sp>
      <p:sp>
        <p:nvSpPr>
          <p:cNvPr id="11" name="Rectangle 10"/>
          <p:cNvSpPr/>
          <p:nvPr/>
        </p:nvSpPr>
        <p:spPr>
          <a:xfrm>
            <a:off x="658368" y="2596896"/>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60904"/>
            <a:ext cx="237744" cy="658368"/>
          </a:xfrm>
          <a:prstGeom prst="rect">
            <a:avLst/>
          </a:prstGeom>
          <a:noFill/>
        </p:spPr>
        <p:txBody>
          <a:bodyPr wrap="square" lIns="0" rIns="0" tIns="0" bIns="0" anchor="ctr">
            <a:spAutoFit/>
          </a:bodyPr>
          <a:lstStyle/>
          <a:p>
            <a:pPr algn="l">
              <a:spcAft>
                <a:spcPts val="0"/>
              </a:spcAft>
            </a:pPr>
            <a:r>
              <a:rPr sz="1000" b="1" i="0">
                <a:solidFill>
                  <a:srgbClr val="0B0B0B"/>
                </a:solidFill>
                <a:latin typeface="Segoe UI"/>
              </a:rPr>
              <a:t>1</a:t>
            </a:r>
          </a:p>
        </p:txBody>
      </p:sp>
      <p:sp>
        <p:nvSpPr>
          <p:cNvPr id="13" name="TextBox 12"/>
          <p:cNvSpPr txBox="1"/>
          <p:nvPr/>
        </p:nvSpPr>
        <p:spPr>
          <a:xfrm>
            <a:off x="1115568" y="2660904"/>
            <a:ext cx="236829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Speeds 5× too low
(4–8 km/h on a free arterial)</a:t>
            </a:r>
          </a:p>
        </p:txBody>
      </p:sp>
      <p:sp>
        <p:nvSpPr>
          <p:cNvPr id="14" name="TextBox 13"/>
          <p:cNvSpPr txBox="1"/>
          <p:nvPr/>
        </p:nvSpPr>
        <p:spPr>
          <a:xfrm>
            <a:off x="3630168" y="2660904"/>
            <a:ext cx="401421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Isotropic pixel-to-metre scale — vertical and horizontal pixels treated alike</a:t>
            </a:r>
          </a:p>
        </p:txBody>
      </p:sp>
      <p:sp>
        <p:nvSpPr>
          <p:cNvPr id="15" name="TextBox 14"/>
          <p:cNvSpPr txBox="1"/>
          <p:nvPr/>
        </p:nvSpPr>
        <p:spPr>
          <a:xfrm>
            <a:off x="7790688" y="2660904"/>
            <a:ext cx="3666744"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Physical implausibility of the reported speed</a:t>
            </a:r>
          </a:p>
        </p:txBody>
      </p:sp>
      <p:sp>
        <p:nvSpPr>
          <p:cNvPr id="16" name="Rectangle 15"/>
          <p:cNvSpPr/>
          <p:nvPr/>
        </p:nvSpPr>
        <p:spPr>
          <a:xfrm>
            <a:off x="658368" y="3255264"/>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319272"/>
            <a:ext cx="237744" cy="658368"/>
          </a:xfrm>
          <a:prstGeom prst="rect">
            <a:avLst/>
          </a:prstGeom>
          <a:noFill/>
        </p:spPr>
        <p:txBody>
          <a:bodyPr wrap="square" lIns="0" rIns="0" tIns="0" bIns="0" anchor="ctr">
            <a:spAutoFit/>
          </a:bodyPr>
          <a:lstStyle/>
          <a:p>
            <a:pPr algn="l">
              <a:spcAft>
                <a:spcPts val="0"/>
              </a:spcAft>
            </a:pPr>
            <a:r>
              <a:rPr sz="1000" b="1" i="0">
                <a:solidFill>
                  <a:srgbClr val="0B0B0B"/>
                </a:solidFill>
                <a:latin typeface="Segoe UI"/>
              </a:rPr>
              <a:t>2</a:t>
            </a:r>
          </a:p>
        </p:txBody>
      </p:sp>
      <p:sp>
        <p:nvSpPr>
          <p:cNvPr id="18" name="TextBox 17"/>
          <p:cNvSpPr txBox="1"/>
          <p:nvPr/>
        </p:nvSpPr>
        <p:spPr>
          <a:xfrm>
            <a:off x="1115568" y="3319272"/>
            <a:ext cx="236829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Flow 10× too high
(12,000–23,000 PCU/hr)</a:t>
            </a:r>
          </a:p>
        </p:txBody>
      </p:sp>
      <p:sp>
        <p:nvSpPr>
          <p:cNvPr id="19" name="TextBox 18"/>
          <p:cNvSpPr txBox="1"/>
          <p:nvPr/>
        </p:nvSpPr>
        <p:spPr>
          <a:xfrm>
            <a:off x="3630168" y="3319272"/>
            <a:ext cx="401421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Counting new ByteTrack IDs as arrivals; IDs churn constantly in dense traffic</a:t>
            </a:r>
          </a:p>
        </p:txBody>
      </p:sp>
      <p:sp>
        <p:nvSpPr>
          <p:cNvPr id="20" name="TextBox 19"/>
          <p:cNvSpPr txBox="1"/>
          <p:nvPr/>
        </p:nvSpPr>
        <p:spPr>
          <a:xfrm>
            <a:off x="7790688" y="3319272"/>
            <a:ext cx="3666744"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Compared against real saturation flow ≈1,800</a:t>
            </a:r>
          </a:p>
        </p:txBody>
      </p:sp>
      <p:sp>
        <p:nvSpPr>
          <p:cNvPr id="21" name="Rectangle 20"/>
          <p:cNvSpPr/>
          <p:nvPr/>
        </p:nvSpPr>
        <p:spPr>
          <a:xfrm>
            <a:off x="658368" y="3913632"/>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977640"/>
            <a:ext cx="237744" cy="658368"/>
          </a:xfrm>
          <a:prstGeom prst="rect">
            <a:avLst/>
          </a:prstGeom>
          <a:noFill/>
        </p:spPr>
        <p:txBody>
          <a:bodyPr wrap="square" lIns="0" rIns="0" tIns="0" bIns="0" anchor="ctr">
            <a:spAutoFit/>
          </a:bodyPr>
          <a:lstStyle/>
          <a:p>
            <a:pPr algn="l">
              <a:spcAft>
                <a:spcPts val="0"/>
              </a:spcAft>
            </a:pPr>
            <a:r>
              <a:rPr sz="1000" b="1" i="0">
                <a:solidFill>
                  <a:srgbClr val="0B0B0B"/>
                </a:solidFill>
                <a:latin typeface="Segoe UI"/>
              </a:rPr>
              <a:t>3</a:t>
            </a:r>
          </a:p>
        </p:txBody>
      </p:sp>
      <p:sp>
        <p:nvSpPr>
          <p:cNvPr id="23" name="TextBox 22"/>
          <p:cNvSpPr txBox="1"/>
          <p:nvPr/>
        </p:nvSpPr>
        <p:spPr>
          <a:xfrm>
            <a:off x="1115568" y="3977640"/>
            <a:ext cx="236829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"Optimised" plan was worse
(−9.5%, delay increased)</a:t>
            </a:r>
          </a:p>
        </p:txBody>
      </p:sp>
      <p:sp>
        <p:nvSpPr>
          <p:cNvPr id="24" name="TextBox 23"/>
          <p:cNvSpPr txBox="1"/>
          <p:nvPr/>
        </p:nvSpPr>
        <p:spPr>
          <a:xfrm>
            <a:off x="3630168" y="3977640"/>
            <a:ext cx="401421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Flow ratio computed per critical lane, saturation per whole approach — mixed units</a:t>
            </a:r>
          </a:p>
        </p:txBody>
      </p:sp>
      <p:sp>
        <p:nvSpPr>
          <p:cNvPr id="25" name="TextBox 24"/>
          <p:cNvSpPr txBox="1"/>
          <p:nvPr/>
        </p:nvSpPr>
        <p:spPr>
          <a:xfrm>
            <a:off x="7790688" y="3977640"/>
            <a:ext cx="3666744"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Swept cycle length; the delay curve had no minimum, which is impossible</a:t>
            </a:r>
          </a:p>
        </p:txBody>
      </p:sp>
      <p:sp>
        <p:nvSpPr>
          <p:cNvPr id="26" name="Rectangle 25"/>
          <p:cNvSpPr/>
          <p:nvPr/>
        </p:nvSpPr>
        <p:spPr>
          <a:xfrm>
            <a:off x="658368" y="4572000"/>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636008"/>
            <a:ext cx="237744" cy="658368"/>
          </a:xfrm>
          <a:prstGeom prst="rect">
            <a:avLst/>
          </a:prstGeom>
          <a:noFill/>
        </p:spPr>
        <p:txBody>
          <a:bodyPr wrap="square" lIns="0" rIns="0" tIns="0" bIns="0" anchor="ctr">
            <a:spAutoFit/>
          </a:bodyPr>
          <a:lstStyle/>
          <a:p>
            <a:pPr algn="l">
              <a:spcAft>
                <a:spcPts val="0"/>
              </a:spcAft>
            </a:pPr>
            <a:r>
              <a:rPr sz="1000" b="1" i="0">
                <a:solidFill>
                  <a:srgbClr val="0B0B0B"/>
                </a:solidFill>
                <a:latin typeface="Segoe UI"/>
              </a:rPr>
              <a:t>4</a:t>
            </a:r>
          </a:p>
        </p:txBody>
      </p:sp>
      <p:sp>
        <p:nvSpPr>
          <p:cNvPr id="28" name="TextBox 27"/>
          <p:cNvSpPr txBox="1"/>
          <p:nvPr/>
        </p:nvSpPr>
        <p:spPr>
          <a:xfrm>
            <a:off x="1115568" y="4636008"/>
            <a:ext cx="236829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Max-pressure named a phase
it had no data for</a:t>
            </a:r>
          </a:p>
        </p:txBody>
      </p:sp>
      <p:sp>
        <p:nvSpPr>
          <p:cNvPr id="29" name="TextBox 28"/>
          <p:cNvSpPr txBox="1"/>
          <p:nvPr/>
        </p:nvSpPr>
        <p:spPr>
          <a:xfrm>
            <a:off x="3630168" y="4636008"/>
            <a:ext cx="4014216"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Missing downstream queue silently treated as zero</a:t>
            </a:r>
          </a:p>
        </p:txBody>
      </p:sp>
      <p:sp>
        <p:nvSpPr>
          <p:cNvPr id="30" name="TextBox 29"/>
          <p:cNvSpPr txBox="1"/>
          <p:nvPr/>
        </p:nvSpPr>
        <p:spPr>
          <a:xfrm>
            <a:off x="7790688" y="4636008"/>
            <a:ext cx="3666744" cy="658368"/>
          </a:xfrm>
          <a:prstGeom prst="rect">
            <a:avLst/>
          </a:prstGeom>
          <a:noFill/>
        </p:spPr>
        <p:txBody>
          <a:bodyPr wrap="square" lIns="0" rIns="0" tIns="0" bIns="0" anchor="ctr">
            <a:spAutoFit/>
          </a:bodyPr>
          <a:lstStyle/>
          <a:p>
            <a:pPr algn="l">
              <a:spcAft>
                <a:spcPts val="0"/>
              </a:spcAft>
            </a:pPr>
            <a:r>
              <a:rPr sz="1000" b="0" i="0">
                <a:solidFill>
                  <a:srgbClr val="0B0B0B"/>
                </a:solidFill>
                <a:latin typeface="Segoe UI"/>
              </a:rPr>
              <a:t>Audit against Varaiya §3.1 — the result was a different controller</a:t>
            </a:r>
          </a:p>
        </p:txBody>
      </p:sp>
      <p:sp>
        <p:nvSpPr>
          <p:cNvPr id="31" name="Rectangle 30"/>
          <p:cNvSpPr/>
          <p:nvPr/>
        </p:nvSpPr>
        <p:spPr>
          <a:xfrm>
            <a:off x="658368" y="5230368"/>
            <a:ext cx="10874959" cy="889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5257800"/>
            <a:ext cx="10874959" cy="932688"/>
          </a:xfrm>
          <a:prstGeom prst="roundRect">
            <a:avLst>
              <a:gd name="adj" fmla="val 4000"/>
            </a:avLst>
          </a:prstGeom>
          <a:solidFill>
            <a:srgbClr val="E7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257800"/>
            <a:ext cx="40640" cy="93268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5376672"/>
            <a:ext cx="10472623" cy="201168"/>
          </a:xfrm>
          <a:prstGeom prst="rect">
            <a:avLst/>
          </a:prstGeom>
          <a:noFill/>
        </p:spPr>
        <p:txBody>
          <a:bodyPr wrap="square" lIns="0" rIns="0" tIns="0" bIns="0" anchor="t">
            <a:spAutoFit/>
          </a:bodyPr>
          <a:lstStyle/>
          <a:p>
            <a:pPr algn="l">
              <a:spcAft>
                <a:spcPts val="0"/>
              </a:spcAft>
            </a:pPr>
            <a:r>
              <a:rPr sz="1150" b="1" i="0">
                <a:solidFill>
                  <a:srgbClr val="0B0B0B"/>
                </a:solidFill>
                <a:latin typeface="Segoe UI"/>
              </a:rPr>
              <a:t>The pattern</a:t>
            </a:r>
          </a:p>
        </p:txBody>
      </p:sp>
      <p:sp>
        <p:nvSpPr>
          <p:cNvPr id="35" name="TextBox 34"/>
          <p:cNvSpPr txBox="1"/>
          <p:nvPr/>
        </p:nvSpPr>
        <p:spPr>
          <a:xfrm>
            <a:off x="859536" y="5605272"/>
            <a:ext cx="10472623" cy="493776"/>
          </a:xfrm>
          <a:prstGeom prst="rect">
            <a:avLst/>
          </a:prstGeom>
          <a:noFill/>
        </p:spPr>
        <p:txBody>
          <a:bodyPr wrap="square" lIns="0" rIns="0" tIns="0" bIns="0" anchor="t">
            <a:spAutoFit/>
          </a:bodyPr>
          <a:lstStyle/>
          <a:p>
            <a:pPr algn="l">
              <a:spcAft>
                <a:spcPts val="0"/>
              </a:spcAft>
            </a:pPr>
            <a:r>
              <a:rPr sz="1100" b="0" i="0">
                <a:solidFill>
                  <a:srgbClr val="52514E"/>
                </a:solidFill>
                <a:latin typeface="Segoe UI"/>
              </a:rPr>
              <a:t>Three of these four produced numbers that looked entirely reasonable on screen. What caught them was checking outputs against physical limits and known theory — not testing that the code ran.</a:t>
            </a:r>
          </a:p>
        </p:txBody>
      </p:sp>
      <p:sp>
        <p:nvSpPr>
          <p:cNvPr id="36" name="TextBox 35"/>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37" name="TextBox 36"/>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nchor="t">
            <a:spAutoFit/>
          </a:bodyPr>
          <a:lstStyle/>
          <a:p>
            <a:pPr algn="l">
              <a:spcAft>
                <a:spcPts val="0"/>
              </a:spcAft>
            </a:pPr>
            <a:r>
              <a:rPr sz="1050" b="1" i="0">
                <a:solidFill>
                  <a:srgbClr val="2A78D6"/>
                </a:solidFill>
                <a:latin typeface="Segoe UI"/>
              </a:rPr>
              <a:t>FUTURE SCOPE</a:t>
            </a:r>
          </a:p>
        </p:txBody>
      </p:sp>
      <p:sp>
        <p:nvSpPr>
          <p:cNvPr id="3" name="TextBox 2"/>
          <p:cNvSpPr txBox="1"/>
          <p:nvPr/>
        </p:nvSpPr>
        <p:spPr>
          <a:xfrm>
            <a:off x="658368" y="713232"/>
            <a:ext cx="10874959" cy="566928"/>
          </a:xfrm>
          <a:prstGeom prst="rect">
            <a:avLst/>
          </a:prstGeom>
          <a:noFill/>
        </p:spPr>
        <p:txBody>
          <a:bodyPr wrap="square" lIns="0" rIns="0" tIns="0" bIns="0" anchor="t">
            <a:spAutoFit/>
          </a:bodyPr>
          <a:lstStyle/>
          <a:p>
            <a:pPr algn="l">
              <a:spcAft>
                <a:spcPts val="0"/>
              </a:spcAft>
            </a:pPr>
            <a:r>
              <a:rPr sz="3000" b="1" i="0">
                <a:solidFill>
                  <a:srgbClr val="0B0B0B"/>
                </a:solidFill>
                <a:latin typeface="Segoe UI"/>
              </a:rPr>
              <a:t>What one measurement, and what more data, would unlock</a:t>
            </a:r>
          </a:p>
        </p:txBody>
      </p:sp>
      <p:sp>
        <p:nvSpPr>
          <p:cNvPr id="4" name="Rectangle 3"/>
          <p:cNvSpPr/>
          <p:nvPr/>
        </p:nvSpPr>
        <p:spPr>
          <a:xfrm>
            <a:off x="658368" y="1298448"/>
            <a:ext cx="10874959" cy="1397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72768"/>
            <a:ext cx="5577840" cy="274320"/>
          </a:xfrm>
          <a:prstGeom prst="rect">
            <a:avLst/>
          </a:prstGeom>
          <a:noFill/>
        </p:spPr>
        <p:txBody>
          <a:bodyPr wrap="square" lIns="0" rIns="0" tIns="0" bIns="0" anchor="t">
            <a:spAutoFit/>
          </a:bodyPr>
          <a:lstStyle/>
          <a:p>
            <a:pPr algn="l">
              <a:spcAft>
                <a:spcPts val="0"/>
              </a:spcAft>
            </a:pPr>
            <a:r>
              <a:rPr sz="950" b="1" i="0">
                <a:solidFill>
                  <a:srgbClr val="1BAF7A"/>
                </a:solidFill>
                <a:latin typeface="Segoe UI"/>
              </a:rPr>
              <a:t>IMMEDIATE — NO NEW HARDWARE</a:t>
            </a:r>
          </a:p>
        </p:txBody>
      </p:sp>
      <p:sp>
        <p:nvSpPr>
          <p:cNvPr id="6" name="TextBox 5"/>
          <p:cNvSpPr txBox="1"/>
          <p:nvPr/>
        </p:nvSpPr>
        <p:spPr>
          <a:xfrm>
            <a:off x="658368" y="1865376"/>
            <a:ext cx="5577840" cy="365760"/>
          </a:xfrm>
          <a:prstGeom prst="rect">
            <a:avLst/>
          </a:prstGeom>
          <a:noFill/>
        </p:spPr>
        <p:txBody>
          <a:bodyPr wrap="square" lIns="0" rIns="0" tIns="0" bIns="0" anchor="t">
            <a:spAutoFit/>
          </a:bodyPr>
          <a:lstStyle/>
          <a:p>
            <a:pPr algn="l">
              <a:spcAft>
                <a:spcPts val="1000"/>
              </a:spcAft>
            </a:pPr>
            <a:r>
              <a:rPr sz="1150" b="1" i="0">
                <a:solidFill>
                  <a:srgbClr val="2A78D6"/>
                </a:solidFill>
                <a:latin typeface="Segoe UI"/>
              </a:rPr>
              <a:t>▪  </a:t>
            </a:r>
            <a:r>
              <a:rPr sz="1150" b="1" i="0">
                <a:solidFill>
                  <a:srgbClr val="0B0B0B"/>
                </a:solidFill>
                <a:latin typeface="Segoe UI"/>
              </a:rPr>
              <a:t>One surveyed road width. </a:t>
            </a:r>
            <a:r>
              <a:rPr sz="1150" b="0" i="0">
                <a:solidFill>
                  <a:srgbClr val="52514E"/>
                </a:solidFill>
                <a:latin typeface="Segoe UI"/>
              </a:rPr>
              <a:t>Promotes every metric figure from estimate to primary. The Calibration view does it in ~2 minutes without a site visit.</a:t>
            </a:r>
          </a:p>
          <a:p>
            <a:pPr>
              <a:spcAft>
                <a:spcPts val="1000"/>
              </a:spcAft>
            </a:pPr>
            <a:r>
              <a:rPr sz="1150" b="1" i="0">
                <a:solidFill>
                  <a:srgbClr val="2A78D6"/>
                </a:solidFill>
                <a:latin typeface="Segoe UI"/>
              </a:rPr>
              <a:t>▪  </a:t>
            </a:r>
            <a:r>
              <a:rPr sz="1150" b="1" i="0">
                <a:solidFill>
                  <a:srgbClr val="0B0B0B"/>
                </a:solidFill>
                <a:latin typeface="Segoe UI"/>
              </a:rPr>
              <a:t>Cameras on receiving links. </a:t>
            </a:r>
            <a:r>
              <a:rPr sz="1150" b="0" i="0">
                <a:solidFill>
                  <a:srgbClr val="52514E"/>
                </a:solidFill>
                <a:latin typeface="Segoe UI"/>
              </a:rPr>
              <a:t>Unlocks true max-pressure on Surat — the controller is already implemented and validated.</a:t>
            </a:r>
          </a:p>
          <a:p>
            <a:pPr>
              <a:spcAft>
                <a:spcPts val="1000"/>
              </a:spcAft>
            </a:pPr>
            <a:r>
              <a:rPr sz="1150" b="1" i="0">
                <a:solidFill>
                  <a:srgbClr val="2A78D6"/>
                </a:solidFill>
                <a:latin typeface="Segoe UI"/>
              </a:rPr>
              <a:t>▪  </a:t>
            </a:r>
            <a:r>
              <a:rPr sz="1150" b="1" i="0">
                <a:solidFill>
                  <a:srgbClr val="0B0B0B"/>
                </a:solidFill>
                <a:latin typeface="Segoe UI"/>
              </a:rPr>
              <a:t>Continuous RTSP ingest. </a:t>
            </a:r>
            <a:r>
              <a:rPr sz="1150" b="0" i="0">
                <a:solidFill>
                  <a:srgbClr val="52514E"/>
                </a:solidFill>
                <a:latin typeface="Segoe UI"/>
              </a:rPr>
              <a:t>Replaces 31 minutes of clips with a live feed; the pipeline is already windowed for it.</a:t>
            </a:r>
          </a:p>
        </p:txBody>
      </p:sp>
      <p:sp>
        <p:nvSpPr>
          <p:cNvPr id="7" name="TextBox 6"/>
          <p:cNvSpPr txBox="1"/>
          <p:nvPr/>
        </p:nvSpPr>
        <p:spPr>
          <a:xfrm>
            <a:off x="6693408" y="1572768"/>
            <a:ext cx="5029200" cy="274320"/>
          </a:xfrm>
          <a:prstGeom prst="rect">
            <a:avLst/>
          </a:prstGeom>
          <a:noFill/>
        </p:spPr>
        <p:txBody>
          <a:bodyPr wrap="square" lIns="0" rIns="0" tIns="0" bIns="0" anchor="t">
            <a:spAutoFit/>
          </a:bodyPr>
          <a:lstStyle/>
          <a:p>
            <a:pPr algn="l">
              <a:spcAft>
                <a:spcPts val="0"/>
              </a:spcAft>
            </a:pPr>
            <a:r>
              <a:rPr sz="950" b="1" i="0">
                <a:solidFill>
                  <a:srgbClr val="2A78D6"/>
                </a:solidFill>
                <a:latin typeface="Segoe UI"/>
              </a:rPr>
              <a:t>LONGER TERM</a:t>
            </a:r>
          </a:p>
        </p:txBody>
      </p:sp>
      <p:sp>
        <p:nvSpPr>
          <p:cNvPr id="8" name="TextBox 7"/>
          <p:cNvSpPr txBox="1"/>
          <p:nvPr/>
        </p:nvSpPr>
        <p:spPr>
          <a:xfrm>
            <a:off x="6693408" y="1865376"/>
            <a:ext cx="5029200" cy="365760"/>
          </a:xfrm>
          <a:prstGeom prst="rect">
            <a:avLst/>
          </a:prstGeom>
          <a:noFill/>
        </p:spPr>
        <p:txBody>
          <a:bodyPr wrap="square" lIns="0" rIns="0" tIns="0" bIns="0" anchor="t">
            <a:spAutoFit/>
          </a:bodyPr>
          <a:lstStyle/>
          <a:p>
            <a:pPr algn="l">
              <a:spcAft>
                <a:spcPts val="1000"/>
              </a:spcAft>
            </a:pPr>
            <a:r>
              <a:rPr sz="1150" b="1" i="0">
                <a:solidFill>
                  <a:srgbClr val="2A78D6"/>
                </a:solidFill>
                <a:latin typeface="Segoe UI"/>
              </a:rPr>
              <a:t>▪  </a:t>
            </a:r>
            <a:r>
              <a:rPr sz="1150" b="1" i="0">
                <a:solidFill>
                  <a:srgbClr val="0B0B0B"/>
                </a:solidFill>
                <a:latin typeface="Segoe UI"/>
              </a:rPr>
              <a:t>Seasonal forecasting. </a:t>
            </a:r>
            <a:r>
              <a:rPr sz="1150" b="0" i="0">
                <a:solidFill>
                  <a:srgbClr val="52514E"/>
                </a:solidFill>
                <a:latin typeface="Segoe UI"/>
              </a:rPr>
              <a:t>Current model has minutes of history. Weeks of continuous operation would justify a daily/weekly seasonal model.</a:t>
            </a:r>
          </a:p>
          <a:p>
            <a:pPr>
              <a:spcAft>
                <a:spcPts val="1000"/>
              </a:spcAft>
            </a:pPr>
            <a:r>
              <a:rPr sz="1150" b="1" i="0">
                <a:solidFill>
                  <a:srgbClr val="2A78D6"/>
                </a:solidFill>
                <a:latin typeface="Segoe UI"/>
              </a:rPr>
              <a:t>▪  </a:t>
            </a:r>
            <a:r>
              <a:rPr sz="1150" b="1" i="0">
                <a:solidFill>
                  <a:srgbClr val="0B0B0B"/>
                </a:solidFill>
                <a:latin typeface="Segoe UI"/>
              </a:rPr>
              <a:t>Coordinated corridors. </a:t>
            </a:r>
            <a:r>
              <a:rPr sz="1150" b="0" i="0">
                <a:solidFill>
                  <a:srgbClr val="52514E"/>
                </a:solidFill>
                <a:latin typeface="Segoe UI"/>
              </a:rPr>
              <a:t>Green-wave offsets across adjacent junctions — the simulator already models two in series.</a:t>
            </a:r>
          </a:p>
          <a:p>
            <a:pPr>
              <a:spcAft>
                <a:spcPts val="1000"/>
              </a:spcAft>
            </a:pPr>
            <a:r>
              <a:rPr sz="1150" b="1" i="0">
                <a:solidFill>
                  <a:srgbClr val="2A78D6"/>
                </a:solidFill>
                <a:latin typeface="Segoe UI"/>
              </a:rPr>
              <a:t>▪  </a:t>
            </a:r>
            <a:r>
              <a:rPr sz="1150" b="1" i="0">
                <a:solidFill>
                  <a:srgbClr val="0B0B0B"/>
                </a:solidFill>
                <a:latin typeface="Segoe UI"/>
              </a:rPr>
              <a:t>Production stack. </a:t>
            </a:r>
            <a:r>
              <a:rPr sz="1150" b="0" i="0">
                <a:solidFill>
                  <a:srgbClr val="52514E"/>
                </a:solidFill>
                <a:latin typeface="Segoe UI"/>
              </a:rPr>
              <a:t>React + Kafka + PostGIS for city-scale deployment; the measurement core is unchanged.</a:t>
            </a:r>
          </a:p>
        </p:txBody>
      </p:sp>
      <p:sp>
        <p:nvSpPr>
          <p:cNvPr id="9" name="TextBox 8"/>
          <p:cNvSpPr txBox="1"/>
          <p:nvPr/>
        </p:nvSpPr>
        <p:spPr>
          <a:xfrm>
            <a:off x="658368" y="4160520"/>
            <a:ext cx="10874959" cy="274320"/>
          </a:xfrm>
          <a:prstGeom prst="rect">
            <a:avLst/>
          </a:prstGeom>
          <a:noFill/>
        </p:spPr>
        <p:txBody>
          <a:bodyPr wrap="square" lIns="0" rIns="0" tIns="0" bIns="0" anchor="t">
            <a:spAutoFit/>
          </a:bodyPr>
          <a:lstStyle/>
          <a:p>
            <a:pPr algn="l">
              <a:spcAft>
                <a:spcPts val="0"/>
              </a:spcAft>
            </a:pPr>
            <a:r>
              <a:rPr sz="950" b="1" i="0">
                <a:solidFill>
                  <a:srgbClr val="898781"/>
                </a:solidFill>
                <a:latin typeface="Segoe UI"/>
              </a:rPr>
              <a:t>STATED LIMITATIONS</a:t>
            </a:r>
          </a:p>
        </p:txBody>
      </p:sp>
      <p:sp>
        <p:nvSpPr>
          <p:cNvPr id="10" name="Rectangle 9"/>
          <p:cNvSpPr/>
          <p:nvPr/>
        </p:nvSpPr>
        <p:spPr>
          <a:xfrm>
            <a:off x="658368" y="4398264"/>
            <a:ext cx="10874959" cy="1270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544568"/>
            <a:ext cx="10874959" cy="365760"/>
          </a:xfrm>
          <a:prstGeom prst="rect">
            <a:avLst/>
          </a:prstGeom>
          <a:noFill/>
        </p:spPr>
        <p:txBody>
          <a:bodyPr wrap="square" lIns="0" rIns="0" tIns="0" bIns="0" anchor="t">
            <a:spAutoFit/>
          </a:bodyPr>
          <a:lstStyle/>
          <a:p>
            <a:pPr algn="l">
              <a:spcAft>
                <a:spcPts val="700"/>
              </a:spcAft>
            </a:pPr>
            <a:r>
              <a:rPr sz="1100" b="1" i="0">
                <a:solidFill>
                  <a:srgbClr val="898781"/>
                </a:solidFill>
                <a:latin typeface="Segoe UI"/>
              </a:rPr>
              <a:t>▪  </a:t>
            </a:r>
            <a:r>
              <a:rPr sz="1100" b="0" i="0">
                <a:solidFill>
                  <a:srgbClr val="52514E"/>
                </a:solidFill>
                <a:latin typeface="Segoe UI"/>
              </a:rPr>
              <a:t>The metric scale is not calibrated — anything in km/h or PCU/km/lane is an estimate, and is labelled as one.</a:t>
            </a:r>
          </a:p>
          <a:p>
            <a:pPr>
              <a:spcAft>
                <a:spcPts val="700"/>
              </a:spcAft>
            </a:pPr>
            <a:r>
              <a:rPr sz="1100" b="1" i="0">
                <a:solidFill>
                  <a:srgbClr val="898781"/>
                </a:solidFill>
                <a:latin typeface="Segoe UI"/>
              </a:rPr>
              <a:t>▪  </a:t>
            </a:r>
            <a:r>
              <a:rPr sz="1100" b="0" i="0">
                <a:solidFill>
                  <a:srgbClr val="52514E"/>
                </a:solidFill>
                <a:latin typeface="Segoe UI"/>
              </a:rPr>
              <a:t>Lane polygons are traced and heatmap-validated, not surveyed.</a:t>
            </a:r>
          </a:p>
          <a:p>
            <a:pPr>
              <a:spcAft>
                <a:spcPts val="700"/>
              </a:spcAft>
            </a:pPr>
            <a:r>
              <a:rPr sz="1100" b="1" i="0">
                <a:solidFill>
                  <a:srgbClr val="898781"/>
                </a:solidFill>
                <a:latin typeface="Segoe UI"/>
              </a:rPr>
              <a:t>▪  </a:t>
            </a:r>
            <a:r>
              <a:rPr sz="1100" b="0" i="0">
                <a:solidFill>
                  <a:srgbClr val="52514E"/>
                </a:solidFill>
                <a:latin typeface="Segoe UI"/>
              </a:rPr>
              <a:t>The two junction cameras face different corridors, so the combined plan demonstrates the method on real measured demand rather than being deployable at one junction.</a:t>
            </a:r>
          </a:p>
          <a:p>
            <a:pPr>
              <a:spcAft>
                <a:spcPts val="700"/>
              </a:spcAft>
            </a:pPr>
            <a:r>
              <a:rPr sz="1100" b="1" i="0">
                <a:solidFill>
                  <a:srgbClr val="898781"/>
                </a:solidFill>
                <a:latin typeface="Segoe UI"/>
              </a:rPr>
              <a:t>▪  </a:t>
            </a:r>
            <a:r>
              <a:rPr sz="1100" b="0" i="0">
                <a:solidFill>
                  <a:srgbClr val="52514E"/>
                </a:solidFill>
                <a:latin typeface="Segoe UI"/>
              </a:rPr>
              <a:t>FLUID is Chinese traffic — it validates the controller implementation; no claim from it transfers to Surat's fleet.</a:t>
            </a:r>
          </a:p>
        </p:txBody>
      </p:sp>
      <p:sp>
        <p:nvSpPr>
          <p:cNvPr id="12" name="TextBox 11"/>
          <p:cNvSpPr txBox="1"/>
          <p:nvPr/>
        </p:nvSpPr>
        <p:spPr>
          <a:xfrm>
            <a:off x="658368" y="6382512"/>
            <a:ext cx="10874959" cy="219456"/>
          </a:xfrm>
          <a:prstGeom prst="rect">
            <a:avLst/>
          </a:prstGeom>
          <a:noFill/>
        </p:spPr>
        <p:txBody>
          <a:bodyPr wrap="square" lIns="0" rIns="0" tIns="0" bIns="0" anchor="t">
            <a:spAutoFit/>
          </a:bodyPr>
          <a:lstStyle/>
          <a:p>
            <a:pPr algn="l">
              <a:spcAft>
                <a:spcPts val="0"/>
              </a:spcAft>
            </a:pPr>
            <a:r>
              <a:rPr sz="850" b="1" i="0">
                <a:solidFill>
                  <a:srgbClr val="898781"/>
                </a:solidFill>
                <a:latin typeface="Segoe UI"/>
              </a:rPr>
              <a:t>Surat Traffic Intelligence</a:t>
            </a:r>
            <a:r>
              <a:rPr sz="850" b="0" i="0">
                <a:solidFill>
                  <a:srgbClr val="898781"/>
                </a:solidFill>
                <a:latin typeface="Segoe UI"/>
              </a:rPr>
              <a:t>   ·   E-Rakshak Hackathon 2026   ·   PS-08</a:t>
            </a:r>
          </a:p>
        </p:txBody>
      </p:sp>
      <p:sp>
        <p:nvSpPr>
          <p:cNvPr id="13" name="TextBox 12"/>
          <p:cNvSpPr txBox="1"/>
          <p:nvPr/>
        </p:nvSpPr>
        <p:spPr>
          <a:xfrm>
            <a:off x="10618927" y="6382512"/>
            <a:ext cx="914400" cy="219456"/>
          </a:xfrm>
          <a:prstGeom prst="rect">
            <a:avLst/>
          </a:prstGeom>
          <a:noFill/>
        </p:spPr>
        <p:txBody>
          <a:bodyPr wrap="square" lIns="0" rIns="0" tIns="0" bIns="0" anchor="t">
            <a:spAutoFit/>
          </a:bodyPr>
          <a:lstStyle/>
          <a:p>
            <a:pPr algn="r">
              <a:spcAft>
                <a:spcPts val="0"/>
              </a:spcAft>
            </a:pPr>
            <a:r>
              <a:rPr sz="850" b="1" i="0">
                <a:solidFill>
                  <a:srgbClr val="898781"/>
                </a:solidFill>
                <a:latin typeface="Segoe U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